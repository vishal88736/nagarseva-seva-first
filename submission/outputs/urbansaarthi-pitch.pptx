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ab19a90fe44e47" /><Relationship Type="http://schemas.openxmlformats.org/officeDocument/2006/relationships/extended-properties" Target="/docProps/app.xml" Id="Reb68fbdceda64fb6" /><Relationship Type="http://schemas.openxmlformats.org/officeDocument/2006/relationships/officeDocument" Target="/ppt/presentation.xml" Id="Rd0cdf9378da84d3f" /></Relationships>
</file>

<file path=ppt/presentation.xml><?xml version="1.0" encoding="utf-8"?>
<p:presentation xmlns:p="http://schemas.openxmlformats.org/presentationml/2006/main">
  <p:sldMasterIdLst>
    <p:sldMasterId xmlns:r="http://schemas.openxmlformats.org/officeDocument/2006/relationships" id="2147483648" r:id="R92cd69afde704441"/>
  </p:sldMasterIdLst>
  <p:notesMasterIdLst>
    <p:notesMasterId xmlns:r="http://schemas.openxmlformats.org/officeDocument/2006/relationships" r:id="Rf9b7c3bce17a44e2"/>
  </p:notesMasterIdLst>
  <p:sldIdLst>
    <p:sldId xmlns:r="http://schemas.openxmlformats.org/officeDocument/2006/relationships" id="256" r:id="R0fcb9d8eba3940ab"/>
    <p:sldId xmlns:r="http://schemas.openxmlformats.org/officeDocument/2006/relationships" id="257" r:id="Rf2c33e5b5e57472c"/>
    <p:sldId xmlns:r="http://schemas.openxmlformats.org/officeDocument/2006/relationships" id="258" r:id="Raf8e0d7505b14e4b"/>
    <p:sldId xmlns:r="http://schemas.openxmlformats.org/officeDocument/2006/relationships" id="259" r:id="R469d6ab40e1d49c0"/>
    <p:sldId xmlns:r="http://schemas.openxmlformats.org/officeDocument/2006/relationships" id="260" r:id="Rdf99894a23ed474b"/>
    <p:sldId xmlns:r="http://schemas.openxmlformats.org/officeDocument/2006/relationships" id="261" r:id="Ra5e66bc31bbb4b5d"/>
  </p:sldIdLst>
  <p:sldSz cx="9144000" cy="51435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95b96ecfde641fd" /><Relationship Type="http://schemas.openxmlformats.org/officeDocument/2006/relationships/slideMaster" Target="/ppt/slideMasters/slideMaster1.xml" Id="R92cd69afde704441" /><Relationship Type="http://schemas.openxmlformats.org/officeDocument/2006/relationships/notesMaster" Target="/ppt/notesMasters/notesMaster1.xml" Id="Rf9b7c3bce17a44e2" /><Relationship Type="http://schemas.openxmlformats.org/officeDocument/2006/relationships/presProps" Target="/ppt/presProps.xml" Id="R69d86d0c65be47ac" /><Relationship Type="http://schemas.openxmlformats.org/officeDocument/2006/relationships/viewProps" Target="/ppt/viewProps.xml" Id="R834594d5c72d4bae" /><Relationship Type="http://schemas.openxmlformats.org/officeDocument/2006/relationships/tableStyles" Target="/ppt/tableStyles.xml" Id="Rf313532f436b4dcc" /><Relationship Type="http://schemas.openxmlformats.org/officeDocument/2006/relationships/slide" Target="/ppt/slides/slide1.xml" Id="R0fcb9d8eba3940ab" /><Relationship Type="http://schemas.openxmlformats.org/officeDocument/2006/relationships/slide" Target="/ppt/slides/slide2.xml" Id="Rf2c33e5b5e57472c" /><Relationship Type="http://schemas.openxmlformats.org/officeDocument/2006/relationships/slide" Target="/ppt/slides/slide3.xml" Id="Raf8e0d7505b14e4b" /><Relationship Type="http://schemas.openxmlformats.org/officeDocument/2006/relationships/slide" Target="/ppt/slides/slide4.xml" Id="R469d6ab40e1d49c0" /><Relationship Type="http://schemas.openxmlformats.org/officeDocument/2006/relationships/slide" Target="/ppt/slides/slide5.xml" Id="Rdf99894a23ed474b" /><Relationship Type="http://schemas.openxmlformats.org/officeDocument/2006/relationships/slide" Target="/ppt/slides/slide6.xml" Id="Ra5e66bc31bbb4b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642da4889344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6b9f8a6acb4b71" /><Relationship Type="http://schemas.openxmlformats.org/officeDocument/2006/relationships/notesMaster" Target="/ppt/notesMasters/notesMaster1.xml" Id="R64b9ba23351d4b8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0ce1cec6c24246" /><Relationship Type="http://schemas.openxmlformats.org/officeDocument/2006/relationships/notesMaster" Target="/ppt/notesMasters/notesMaster1.xml" Id="Rde8ab4458f4c4b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5a831c4e794469" /><Relationship Type="http://schemas.openxmlformats.org/officeDocument/2006/relationships/notesMaster" Target="/ppt/notesMasters/notesMaster1.xml" Id="Rd8e6379eed724f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c5b7edd9924f21" /><Relationship Type="http://schemas.openxmlformats.org/officeDocument/2006/relationships/notesMaster" Target="/ppt/notesMasters/notesMaster1.xml" Id="Rfc20798573504f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3fc620e31a431e" /><Relationship Type="http://schemas.openxmlformats.org/officeDocument/2006/relationships/notesMaster" Target="/ppt/notesMasters/notesMaster1.xml" Id="R785b3fe277dd4a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598ff9f08c479e" /><Relationship Type="http://schemas.openxmlformats.org/officeDocument/2006/relationships/notesMaster" Target="/ppt/notesMasters/notesMaster1.xml" Id="R7487d60b3d6d46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UrbanSaarthi is an individual participant’s working software prototype. The screenshot is an actual Chromium capture of its synthetic demonstration, from the recorded test run. It is not a field survey. Personal details remain omitted at the applicant’s request. The official template was acquired unchanged on 18 October 2026, SHA-256 f1759dcb60e2953769ad8a535fa4fd7e870c5702c80cef70e6b465fab3e4aa92. Website guidance says PPTX while the template says PDF under 10 MB. Both formats are supplied; confirm accepted format in the authenticated portal. Sources: https://sevainnovationchallenge.in/guidelines.html and the template download linked there. Software evidence: integration/urban-validation.json in the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local task: select the next water-service inspection and review closure evidence in one agreed M-East cluster. Historical/local research supports attention to service reliability, not a current ward prevalence estimate. Three SRA listing records were acquired on 17 October 2026. Their geometry and current service observations were not acquired. Existing systems constrain the novelty claim. Sources accessed 17–18 October 2026: https://link.springer.com/article/10.1186/1471-2458-13-173 ; https://dms.sra.gov.in/SRAPUBLIC/ ; https://maharashtra.nic.in/news/gis-sra/ ; https://mahadma.maharashtra.gov.in/wp-content/uploads/2025/07/swachh-bharat-2.pdf ; https://www.pib.gov.in/PressReleasePage.aspx?PRID=2162194&amp;lang=2&amp;reg=48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screens implement the requested software workflow. The mapped clusters, deficit indices, graph, household counts and construction scenarios are synthetic assumptions. P=.30W+.25S+.20H+.15A+.10R gives 65.0 for 80,70,60,50,40. Weights and the 60/100 demo cutoff are design assumptions. Missing positive-weight inputs produce an interval and no rank. Costs, speed and usability have no independent comparative measurements. INR 132,000 is an illustrative review-trial budget, not software price, a quotation or construction cost. No patent or AI advantage is claimed. Sources: repository README, model/src/urban_planning.py, shared/urban-demo.json, submission/financial_model.md and integration validation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the Working Prototype stage applies. Automated tests cover calculations, API behavior, persistence and the actual Chromium workflow. They do not validate current service conditions. A conditional 90-day trial aims for up to 20 public water assets and three observation rounds. All rates need quotations. Budget: INR 120,000 subtotal + 10% contingency = INR 132,000. Dividing by 20 proposed asset review scopes gives INR 6,600 per scope, not per beneficiary or repaired asset. The BMC M-East department list includes Assistant Engineer (Water Works); its published manual describes ward-level water responsibilities. No current incumbent, adoption mandate or partnership is asserted. Sources accessed 18 October 2026: https://portal.mcgm.gov.in/irj/portal/anonymous/qlacmeward ; https://portal.mcgm.gov.in/irj/go/km/docs/documents/MCGM%20Department%20List/Wards/Assistant%20Commissioner%20%28MEast-Ward%29/RTI%20Manuals/Model%20RTI%2017%20Manual%20Assistant%20Engineer%20%28Water%20Works%29.pdf . Trial and cost details: pilot/README.md and submission/financial_model.md.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Beneficiary reach, savings and livelihood impact remain unmeasured. Compare paired task effort and critical omissions against the current process, with independent assessments recorded before engine scores are shown. Report sample size, missing pairs and disagreement. Distance to a synthetic employment hub is not income or livelihood loss. Annual illustrative continuation is INR 147,600 +10% contingency = INR 162,360. No payer is committed. SDG 6, 11 and 1 alignment is intended only. Source: pilot/field_protocol.md, pilot/indicator_protocol.md, submission/impact_metrics.md and financial_model.md.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applicant has asked to omit personal profile details. Complete legal identity, domicile, category, contact and declarations privately before submission. No faculty mentor or field partner is invented. The support request is a domain mentor, permitted records, independent validation and a scoped trial budget subject to approval. No agency has been contacted or accepted this proposal. The draft office request is prepared but unsent. Source: pilot/adoption_request.md and submission/application_answers.md.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7bae17aa4a4f7e"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2558115c154956" /><Relationship Type="http://schemas.openxmlformats.org/officeDocument/2006/relationships/slideLayout" Target="/ppt/slideLayouts/slideLayout1.xml" Id="Rd3076928a27640b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076928a27640b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72118b5528a4899" /><Relationship Type="http://schemas.openxmlformats.org/officeDocument/2006/relationships/image" Target="/ppt/media/image.jpeg" Id="Re1e1a721f9864173" /><Relationship Type="http://schemas.openxmlformats.org/officeDocument/2006/relationships/notesSlide" Target="/ppt/notesSlides/notesSlide1.xml" Id="Rb3b7bf94958a4c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6ff4fff70bb4209" /><Relationship Type="http://schemas.openxmlformats.org/officeDocument/2006/relationships/notesSlide" Target="/ppt/notesSlides/notesSlide2.xml" Id="Rd5f5035c315548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6b898c684b74365" /><Relationship Type="http://schemas.openxmlformats.org/officeDocument/2006/relationships/notesSlide" Target="/ppt/notesSlides/notesSlide3.xml" Id="R44b60d3bfa9a46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e14cd58fe6347ab" /><Relationship Type="http://schemas.openxmlformats.org/officeDocument/2006/relationships/notesSlide" Target="/ppt/notesSlides/notesSlide4.xml" Id="R11de6ac6e40144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5b840229e14840" /><Relationship Type="http://schemas.openxmlformats.org/officeDocument/2006/relationships/notesSlide" Target="/ppt/notesSlides/notesSlide5.xml" Id="Rba95e797e2d240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684363403d4729" /><Relationship Type="http://schemas.openxmlformats.org/officeDocument/2006/relationships/notesSlide" Target="/ppt/notesSlides/notesSlide6.xml" Id="Rd5dfc5ab9ed44449" /></Relationships>
</file>

<file path=ppt/slides/slide1.xml><?xml version="1.0" encoding="utf-8"?>
<p:sld xmlns:p="http://schemas.openxmlformats.org/presentationml/2006/main">
  <p:cSld>
    <p:bg>
      <p:bgPr>
        <a:solidFill xmlns:a="http://schemas.openxmlformats.org/drawingml/2006/main">
          <a:srgbClr val="1B2A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A860076-397C-4F90-ADF1-4AA1A31214E7}"/>
              </a:ext>
            </a:extLst>
          </p:cNvPr>
          <p:cNvSpPr>
            <a:spLocks xmlns:a="http://schemas.openxmlformats.org/drawingml/2006/main" noGrp="1"/>
          </p:cNvSpPr>
          <p:nvPr/>
        </p:nvSpPr>
        <p:spPr>
          <a:xfrm xmlns:a="http://schemas.openxmlformats.org/drawingml/2006/main">
            <a:off x="457200" y="3657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b="1" spc="200">
                <a:solidFill>
                  <a:srgbClr val="F28C28"/>
                </a:solidFill>
                <a:latin typeface="Nirmala UI"/>
                <a:ea typeface="Nirmala UI"/>
                <a:cs typeface="Nirmala UI"/>
              </a:rPr>
              <a:t>SEVA INNOVATION CHALLENGE 2026  •  REFERENCE PITCH DECK</a:t>
            </a:r>
            <a:endParaRPr sz="1000"/>
          </a:p>
        </p:txBody>
      </p:sp>
      <p:sp>
        <p:nvSpPr>
          <p:cNvPr id="3" name="Text 1">
            <a:extLst xmlns:a="http://schemas.openxmlformats.org/drawingml/2006/main">
              <a:ext uri="{FF2B5EF4-FFF2-40B4-BE49-F238E27FC236}">
                <a16:creationId xmlns:a16="http://schemas.microsoft.com/office/drawing/2014/main" id="{F7446B9C-0E5E-4CB5-9DF3-5760CFA7BF1A}"/>
              </a:ext>
            </a:extLst>
          </p:cNvPr>
          <p:cNvSpPr>
            <a:spLocks xmlns:a="http://schemas.openxmlformats.org/drawingml/2006/main" noGrp="1"/>
          </p:cNvSpPr>
          <p:nvPr/>
        </p:nvSpPr>
        <p:spPr>
          <a:xfrm xmlns:a="http://schemas.openxmlformats.org/drawingml/2006/main">
            <a:off x="457200" y="731520"/>
            <a:ext cx="5212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0"/>
            </a:defPPr>
          </a:lstStyle>
          <a:p xmlns:a="http://schemas.openxmlformats.org/drawingml/2006/main">
            <a:pPr marL="0" indent="0">
              <a:buNone/>
              <a:defRPr i="0"/>
            </a:pPr>
            <a:r>
              <a:rPr sz="2800" b="1" i="0">
                <a:solidFill>
                  <a:srgbClr val="FFFFFF"/>
                </a:solidFill>
                <a:latin typeface="Nirmala UI"/>
                <a:ea typeface="Nirmala UI"/>
                <a:cs typeface="Nirmala UI"/>
              </a:rPr>
              <a:t>UrbanSaarthi</a:t>
            </a:r>
            <a:endParaRPr sz="2800"/>
          </a:p>
        </p:txBody>
      </p:sp>
      <p:sp>
        <p:nvSpPr>
          <p:cNvPr id="4" name="Text 2">
            <a:extLst xmlns:a="http://schemas.openxmlformats.org/drawingml/2006/main">
              <a:ext uri="{FF2B5EF4-FFF2-40B4-BE49-F238E27FC236}">
                <a16:creationId xmlns:a16="http://schemas.microsoft.com/office/drawing/2014/main" id="{C401FFFB-359F-4F1E-A5D8-59857DB732FC}"/>
              </a:ext>
            </a:extLst>
          </p:cNvPr>
          <p:cNvSpPr>
            <a:spLocks xmlns:a="http://schemas.openxmlformats.org/drawingml/2006/main" noGrp="1"/>
          </p:cNvSpPr>
          <p:nvPr/>
        </p:nvSpPr>
        <p:spPr>
          <a:xfrm xmlns:a="http://schemas.openxmlformats.org/drawingml/2006/main">
            <a:off x="457200" y="1783080"/>
            <a:ext cx="49377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725" i="0">
                <a:solidFill>
                  <a:srgbClr val="CDD6F4"/>
                </a:solidFill>
              </a:defRPr>
            </a:defPPr>
          </a:lstStyle>
          <a:p xmlns:a="http://schemas.openxmlformats.org/drawingml/2006/main">
            <a:pPr marL="0" indent="0">
              <a:buNone/>
              <a:defRPr sz="1725" i="0">
                <a:solidFill>
                  <a:srgbClr val="CDD6F4"/>
                </a:solidFill>
              </a:defRPr>
            </a:pPr>
            <a:r>
              <a:rPr sz="1725" i="0">
                <a:solidFill>
                  <a:srgbClr val="CDD6F4"/>
                </a:solidFill>
                <a:latin typeface="Nirmala UI"/>
                <a:ea typeface="Nirmala UI"/>
                <a:cs typeface="Nirmala UI"/>
              </a:rPr>
              <a:t>Explainable settlement planning</a:t>
            </a:r>
            <a:endParaRPr sz="1200"/>
          </a:p>
          <a:p xmlns:a="http://schemas.openxmlformats.org/drawingml/2006/main">
            <a:pPr marL="0" indent="0">
              <a:buNone/>
              <a:defRPr sz="1725" i="0">
                <a:solidFill>
                  <a:srgbClr val="CDD6F4"/>
                </a:solidFill>
              </a:defRPr>
            </a:pPr>
            <a:r>
              <a:rPr sz="1725" i="0">
                <a:solidFill>
                  <a:srgbClr val="CDD6F4"/>
                </a:solidFill>
                <a:latin typeface="Nirmala UI"/>
                <a:ea typeface="Nirmala UI"/>
                <a:cs typeface="Nirmala UI"/>
              </a:rPr>
              <a:t>and basic-service assurance</a:t>
            </a:r>
          </a:p>
        </p:txBody>
      </p:sp>
      <p:pic>
        <p:nvPicPr>
          <p:cNvPr id="5" name="">
            <a:extLst xmlns:a="http://schemas.openxmlformats.org/drawingml/2006/main">
              <a:ext uri="{FF2B5EF4-FFF2-40B4-BE49-F238E27FC236}">
                <a16:creationId xmlns:a16="http://schemas.microsoft.com/office/drawing/2014/main" id="{204BE9CB-CA1D-4F26-A501-5344AADC9C73}"/>
              </a:ext>
            </a:extLst>
          </p:cNvPr>
          <p:cNvPicPr>
            <a:picLocks xmlns:a="http://schemas.openxmlformats.org/drawingml/2006/main" noChangeAspect="1"/>
          </p:cNvPicPr>
          <p:nvPr/>
        </p:nvPicPr>
        <p:blipFill>
          <a:blip xmlns:r="http://schemas.openxmlformats.org/officeDocument/2006/relationships" xmlns:a="http://schemas.openxmlformats.org/drawingml/2006/main" r:embed="Re1e1a721f9864173"/>
          <a:stretch xmlns:a="http://schemas.openxmlformats.org/drawingml/2006/main"/>
        </p:blipFill>
        <p:spPr>
          <a:xfrm xmlns:a="http://schemas.openxmlformats.org/drawingml/2006/main">
            <a:off x="5861469" y="781050"/>
            <a:ext cx="2812211" cy="3105150"/>
          </a:xfrm>
          <a:prstGeom xmlns:a="http://schemas.openxmlformats.org/drawingml/2006/main" prst="rect">
            <a:avLst/>
          </a:prstGeom>
        </p:spPr>
      </p:pic>
      <p:sp>
        <p:nvSpPr>
          <p:cNvPr id="6" name="Prototype scope">
            <a:extLst xmlns:a="http://schemas.openxmlformats.org/drawingml/2006/main">
              <a:ext uri="{FF2B5EF4-FFF2-40B4-BE49-F238E27FC236}">
                <a16:creationId xmlns:a16="http://schemas.microsoft.com/office/drawing/2014/main" id="{736B80D4-0739-44AE-BF0C-A3FA849C1B14}"/>
              </a:ext>
            </a:extLst>
          </p:cNvPr>
          <p:cNvSpPr>
            <a:spLocks xmlns:a="http://schemas.openxmlformats.org/drawingml/2006/main" noGrp="1"/>
          </p:cNvSpPr>
          <p:nvPr/>
        </p:nvSpPr>
        <p:spPr>
          <a:xfrm xmlns:a="http://schemas.openxmlformats.org/drawingml/2006/main">
            <a:off x="457200" y="33813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a:solidFill>
                  <a:srgbClr val="CDD6F4"/>
                </a:solidFill>
                <a:latin typeface="Nirmala UI"/>
                <a:ea typeface="Nirmala UI"/>
                <a:cs typeface="Nirmala UI"/>
              </a:defRPr>
            </a:defPPr>
          </a:lstStyle>
          <a:p xmlns:a="http://schemas.openxmlformats.org/drawingml/2006/main">
            <a:pPr>
              <a:defRPr sz="1275">
                <a:solidFill>
                  <a:srgbClr val="CDD6F4"/>
                </a:solidFill>
                <a:latin typeface="Nirmala UI"/>
                <a:ea typeface="Nirmala UI"/>
                <a:cs typeface="Nirmala UI"/>
              </a:defRPr>
            </a:pPr>
            <a:r>
              <a:rPr sz="1275">
                <a:solidFill>
                  <a:srgbClr val="CDD6F4"/>
                </a:solidFill>
                <a:latin typeface="Nirmala UI"/>
                <a:ea typeface="Nirmala UI"/>
                <a:cs typeface="Nirmala UI"/>
              </a:rPr>
              <a:t>Working software prototype</a:t>
            </a:r>
          </a:p>
          <a:p xmlns:a="http://schemas.openxmlformats.org/drawingml/2006/main">
            <a:pPr>
              <a:defRPr sz="1275">
                <a:solidFill>
                  <a:srgbClr val="CDD6F4"/>
                </a:solidFill>
                <a:latin typeface="Nirmala UI"/>
                <a:ea typeface="Nirmala UI"/>
                <a:cs typeface="Nirmala UI"/>
              </a:defRPr>
            </a:pPr>
            <a:r>
              <a:rPr sz="1275">
                <a:solidFill>
                  <a:srgbClr val="CDD6F4"/>
                </a:solidFill>
                <a:latin typeface="Nirmala UI"/>
                <a:ea typeface="Nirmala UI"/>
                <a:cs typeface="Nirmala UI"/>
              </a:rPr>
              <a:t>Mumbai demonstration context</a:t>
            </a:r>
          </a:p>
          <a:p xmlns:a="http://schemas.openxmlformats.org/drawingml/2006/main">
            <a:pPr>
              <a:defRPr sz="1275">
                <a:solidFill>
                  <a:srgbClr val="CDD6F4"/>
                </a:solidFill>
                <a:latin typeface="Nirmala UI"/>
                <a:ea typeface="Nirmala UI"/>
                <a:cs typeface="Nirmala UI"/>
              </a:defRPr>
            </a:pPr>
            <a:r>
              <a:rPr sz="1275">
                <a:solidFill>
                  <a:srgbClr val="CDD6F4"/>
                </a:solidFill>
                <a:latin typeface="Nirmala UI"/>
                <a:ea typeface="Nirmala UI"/>
                <a:cs typeface="Nirmala UI"/>
              </a:rPr>
              <a:t>No approved field pilot or measured resident impact</a:t>
            </a:r>
          </a:p>
        </p:txBody>
      </p:sp>
    </p:spTree>
    <p:extLst>
      <p:ext uri="{BB962C8B-B14F-4D97-AF65-F5344CB8AC3E}">
        <p14:creationId xmlns:p14="http://schemas.microsoft.com/office/powerpoint/2010/main" val="643222004"/>
      </p:ext>
    </p:extLst>
  </p:cSld>
</p:sld>
</file>

<file path=ppt/slides/slide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70F5419-3D25-4B44-92D0-3C5AC0DD0456}"/>
              </a:ext>
            </a:extLst>
          </p:cNvPr>
          <p:cNvSpPr>
            <a:spLocks xmlns:a="http://schemas.openxmlformats.org/drawingml/2006/main" noGrp="1"/>
          </p:cNvSpPr>
          <p:nvPr/>
        </p:nvSpPr>
        <p:spPr>
          <a:xfrm xmlns:a="http://schemas.openxmlformats.org/drawingml/2006/main">
            <a:off x="457200" y="347472"/>
            <a:ext cx="502920" cy="502920"/>
          </a:xfrm>
          <a:prstGeom xmlns:a="http://schemas.openxmlformats.org/drawingml/2006/main" prst="ellipse">
            <a:avLst/>
          </a:prstGeom>
          <a:solidFill xmlns:a="http://schemas.openxmlformats.org/drawingml/2006/main">
            <a:srgbClr val="F28C28"/>
          </a:solidFill>
          <a:ln xmlns:a="http://schemas.openxmlformats.org/drawingml/2006/main" w="127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FF3B4C14-ABE2-4B66-99E0-07A6932D8064}"/>
              </a:ext>
            </a:extLst>
          </p:cNvPr>
          <p:cNvSpPr>
            <a:spLocks xmlns:a="http://schemas.openxmlformats.org/drawingml/2006/main" noGrp="1"/>
          </p:cNvSpPr>
          <p:nvPr/>
        </p:nvSpPr>
        <p:spPr>
          <a:xfrm xmlns:a="http://schemas.openxmlformats.org/drawingml/2006/main">
            <a:off x="457200" y="347472"/>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Nirmala UI"/>
                <a:ea typeface="Nirmala UI"/>
                <a:cs typeface="Nirmala UI"/>
              </a:rPr>
              <a:t>2</a:t>
            </a:r>
            <a:endParaRPr sz="1540"/>
          </a:p>
        </p:txBody>
      </p:sp>
      <p:sp>
        <p:nvSpPr>
          <p:cNvPr id="4" name="Text 2">
            <a:extLst xmlns:a="http://schemas.openxmlformats.org/drawingml/2006/main">
              <a:ext uri="{FF2B5EF4-FFF2-40B4-BE49-F238E27FC236}">
                <a16:creationId xmlns:a16="http://schemas.microsoft.com/office/drawing/2014/main" id="{6E67913E-7B9F-4C73-91D6-E929C7A6CB91}"/>
              </a:ext>
            </a:extLst>
          </p:cNvPr>
          <p:cNvSpPr>
            <a:spLocks xmlns:a="http://schemas.openxmlformats.org/drawingml/2006/main" noGrp="1"/>
          </p:cNvSpPr>
          <p:nvPr/>
        </p:nvSpPr>
        <p:spPr>
          <a:xfrm xmlns:a="http://schemas.openxmlformats.org/drawingml/2006/main">
            <a:off x="1097280" y="301752"/>
            <a:ext cx="6858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1B2A5C"/>
                </a:solidFill>
                <a:latin typeface="Nirmala UI"/>
                <a:ea typeface="Nirmala UI"/>
                <a:cs typeface="Nirmala UI"/>
              </a:rPr>
              <a:t>The Problem</a:t>
            </a:r>
            <a:endParaRPr sz="2600"/>
          </a:p>
        </p:txBody>
      </p:sp>
      <p:sp>
        <p:nvSpPr>
          <p:cNvPr id="5" name="Text 3">
            <a:extLst xmlns:a="http://schemas.openxmlformats.org/drawingml/2006/main">
              <a:ext uri="{FF2B5EF4-FFF2-40B4-BE49-F238E27FC236}">
                <a16:creationId xmlns:a16="http://schemas.microsoft.com/office/drawing/2014/main" id="{C1076C70-A7C1-4A66-9ECE-2E984A156E77}"/>
              </a:ext>
            </a:extLst>
          </p:cNvPr>
          <p:cNvSpPr>
            <a:spLocks xmlns:a="http://schemas.openxmlformats.org/drawingml/2006/main" noGrp="1"/>
          </p:cNvSpPr>
          <p:nvPr/>
        </p:nvSpPr>
        <p:spPr>
          <a:xfrm xmlns:a="http://schemas.openxmlformats.org/drawingml/2006/main">
            <a:off x="1097280" y="713232"/>
            <a:ext cx="7589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1"/>
            </a:defPPr>
          </a:lstStyle>
          <a:p xmlns:a="http://schemas.openxmlformats.org/drawingml/2006/main">
            <a:pPr marL="0" indent="0">
              <a:buNone/>
              <a:defRPr i="1"/>
            </a:pPr>
            <a:r>
              <a:rPr sz="1100" i="1">
                <a:solidFill>
                  <a:srgbClr val="6B7280"/>
                </a:solidFill>
                <a:latin typeface="Nirmala UI"/>
                <a:ea typeface="Nirmala UI"/>
                <a:cs typeface="Nirmala UI"/>
              </a:rPr>
              <a:t>Proposed task: the next water-service inspection in one agreed M-East cluster</a:t>
            </a:r>
            <a:endParaRPr sz="1100"/>
          </a:p>
        </p:txBody>
      </p:sp>
      <p:sp>
        <p:nvSpPr>
          <p:cNvPr id="6" name="Text 4">
            <a:extLst xmlns:a="http://schemas.openxmlformats.org/drawingml/2006/main">
              <a:ext uri="{FF2B5EF4-FFF2-40B4-BE49-F238E27FC236}">
                <a16:creationId xmlns:a16="http://schemas.microsoft.com/office/drawing/2014/main" id="{0CFB7FD5-5C3E-4EFE-8248-E4F9C298B4AA}"/>
              </a:ext>
            </a:extLst>
          </p:cNvPr>
          <p:cNvSpPr>
            <a:spLocks xmlns:a="http://schemas.openxmlformats.org/drawingml/2006/main" noGrp="1"/>
          </p:cNvSpPr>
          <p:nvPr/>
        </p:nvSpPr>
        <p:spPr>
          <a:xfrm xmlns:a="http://schemas.openxmlformats.org/drawingml/2006/main">
            <a:off x="5486400" y="4846320"/>
            <a:ext cx="3200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00">
                <a:solidFill>
                  <a:srgbClr val="6B7280"/>
                </a:solidFill>
                <a:latin typeface="Nirmala UI"/>
                <a:ea typeface="Nirmala UI"/>
                <a:cs typeface="Nirmala UI"/>
              </a:rPr>
              <a:t>Seva Innovation Challenge 2026  |  Slide 2 of 6</a:t>
            </a:r>
            <a:endParaRPr sz="800"/>
          </a:p>
        </p:txBody>
      </p:sp>
      <p:sp>
        <p:nvSpPr>
          <p:cNvPr id="7" name="Shape 5">
            <a:extLst xmlns:a="http://schemas.openxmlformats.org/drawingml/2006/main">
              <a:ext uri="{FF2B5EF4-FFF2-40B4-BE49-F238E27FC236}">
                <a16:creationId xmlns:a16="http://schemas.microsoft.com/office/drawing/2014/main" id="{EE2455B7-F5AF-4512-BD9A-5ACD143F7F16}"/>
              </a:ext>
            </a:extLst>
          </p:cNvPr>
          <p:cNvSpPr>
            <a:spLocks xmlns:a="http://schemas.openxmlformats.org/drawingml/2006/main" noGrp="1"/>
          </p:cNvSpPr>
          <p:nvPr/>
        </p:nvSpPr>
        <p:spPr>
          <a:xfrm xmlns:a="http://schemas.openxmlformats.org/drawingml/2006/main">
            <a:off x="457200" y="1188720"/>
            <a:ext cx="2743200" cy="1600200"/>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20032BEA-B8DC-461D-B51C-26CE1FC43EB6}"/>
              </a:ext>
            </a:extLst>
          </p:cNvPr>
          <p:cNvSpPr>
            <a:spLocks xmlns:a="http://schemas.openxmlformats.org/drawingml/2006/main" noGrp="1"/>
          </p:cNvSpPr>
          <p:nvPr/>
        </p:nvSpPr>
        <p:spPr>
          <a:xfrm xmlns:a="http://schemas.openxmlformats.org/drawingml/2006/main">
            <a:off x="594360" y="1298448"/>
            <a:ext cx="2468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What is the problem?</a:t>
            </a:r>
            <a:endParaRPr sz="1200"/>
          </a:p>
        </p:txBody>
      </p:sp>
      <p:sp>
        <p:nvSpPr>
          <p:cNvPr id="9" name="Text 7">
            <a:extLst xmlns:a="http://schemas.openxmlformats.org/drawingml/2006/main">
              <a:ext uri="{FF2B5EF4-FFF2-40B4-BE49-F238E27FC236}">
                <a16:creationId xmlns:a16="http://schemas.microsoft.com/office/drawing/2014/main" id="{F0A726DB-8790-4882-828B-7234313BFE51}"/>
              </a:ext>
            </a:extLst>
          </p:cNvPr>
          <p:cNvSpPr>
            <a:spLocks xmlns:a="http://schemas.openxmlformats.org/drawingml/2006/main" noGrp="1"/>
          </p:cNvSpPr>
          <p:nvPr/>
        </p:nvSpPr>
        <p:spPr>
          <a:xfrm xmlns:a="http://schemas.openxmlformats.org/drawingml/2006/main">
            <a:off x="594360" y="1572768"/>
            <a:ext cx="246888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0">
                <a:solidFill>
                  <a:srgbClr val="334155"/>
                </a:solidFill>
              </a:defRPr>
            </a:defPPr>
          </a:lstStyle>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A work can be physically complete while reliable service still needs checking. Reviewers need dated evidence for the next inspection and closure decision.</a:t>
            </a:r>
            <a:endParaRPr sz="1000"/>
          </a:p>
        </p:txBody>
      </p:sp>
      <p:sp>
        <p:nvSpPr>
          <p:cNvPr id="10" name="Shape 8">
            <a:extLst xmlns:a="http://schemas.openxmlformats.org/drawingml/2006/main">
              <a:ext uri="{FF2B5EF4-FFF2-40B4-BE49-F238E27FC236}">
                <a16:creationId xmlns:a16="http://schemas.microsoft.com/office/drawing/2014/main" id="{A23D707F-9219-4093-83C0-644743F06F5A}"/>
              </a:ext>
            </a:extLst>
          </p:cNvPr>
          <p:cNvSpPr>
            <a:spLocks xmlns:a="http://schemas.openxmlformats.org/drawingml/2006/main" noGrp="1"/>
          </p:cNvSpPr>
          <p:nvPr/>
        </p:nvSpPr>
        <p:spPr>
          <a:xfrm xmlns:a="http://schemas.openxmlformats.org/drawingml/2006/main">
            <a:off x="3383280" y="1188720"/>
            <a:ext cx="2743200" cy="1600200"/>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0FFB813E-D87E-42E7-BE30-C29FF8497FC2}"/>
              </a:ext>
            </a:extLst>
          </p:cNvPr>
          <p:cNvSpPr>
            <a:spLocks xmlns:a="http://schemas.openxmlformats.org/drawingml/2006/main" noGrp="1"/>
          </p:cNvSpPr>
          <p:nvPr/>
        </p:nvSpPr>
        <p:spPr>
          <a:xfrm xmlns:a="http://schemas.openxmlformats.org/drawingml/2006/main">
            <a:off x="3520440" y="1298448"/>
            <a:ext cx="2468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Who is affected, and where?</a:t>
            </a:r>
            <a:endParaRPr sz="1200"/>
          </a:p>
        </p:txBody>
      </p:sp>
      <p:sp>
        <p:nvSpPr>
          <p:cNvPr id="12" name="Text 10">
            <a:extLst xmlns:a="http://schemas.openxmlformats.org/drawingml/2006/main">
              <a:ext uri="{FF2B5EF4-FFF2-40B4-BE49-F238E27FC236}">
                <a16:creationId xmlns:a16="http://schemas.microsoft.com/office/drawing/2014/main" id="{B7632066-BF4C-4989-8866-73DAE003285D}"/>
              </a:ext>
            </a:extLst>
          </p:cNvPr>
          <p:cNvSpPr>
            <a:spLocks xmlns:a="http://schemas.openxmlformats.org/drawingml/2006/main" noGrp="1"/>
          </p:cNvSpPr>
          <p:nvPr/>
        </p:nvSpPr>
        <p:spPr>
          <a:xfrm xmlns:a="http://schemas.openxmlformats.org/drawingml/2006/main">
            <a:off x="3520440" y="1572768"/>
            <a:ext cx="246888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0">
                <a:solidFill>
                  <a:srgbClr val="334155"/>
                </a:solidFill>
              </a:defRPr>
            </a:defPPr>
          </a:lstStyle>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Prospective users: BMC M-East water-service reviewers, asset operators and residents. No operational cluster or agency partner is confirmed.</a:t>
            </a:r>
            <a:endParaRPr sz="1000"/>
          </a:p>
        </p:txBody>
      </p:sp>
      <p:sp>
        <p:nvSpPr>
          <p:cNvPr id="13" name="Shape 11">
            <a:extLst xmlns:a="http://schemas.openxmlformats.org/drawingml/2006/main">
              <a:ext uri="{FF2B5EF4-FFF2-40B4-BE49-F238E27FC236}">
                <a16:creationId xmlns:a16="http://schemas.microsoft.com/office/drawing/2014/main" id="{87A5F30E-9584-4089-916F-9C963B74042D}"/>
              </a:ext>
            </a:extLst>
          </p:cNvPr>
          <p:cNvSpPr>
            <a:spLocks xmlns:a="http://schemas.openxmlformats.org/drawingml/2006/main" noGrp="1"/>
          </p:cNvSpPr>
          <p:nvPr/>
        </p:nvSpPr>
        <p:spPr>
          <a:xfrm xmlns:a="http://schemas.openxmlformats.org/drawingml/2006/main">
            <a:off x="457200" y="2971800"/>
            <a:ext cx="2743200" cy="164592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894961A7-BB2B-485D-8BDD-929CE6517EA7}"/>
              </a:ext>
            </a:extLst>
          </p:cNvPr>
          <p:cNvSpPr>
            <a:spLocks xmlns:a="http://schemas.openxmlformats.org/drawingml/2006/main" noGrp="1"/>
          </p:cNvSpPr>
          <p:nvPr/>
        </p:nvSpPr>
        <p:spPr>
          <a:xfrm xmlns:a="http://schemas.openxmlformats.org/drawingml/2006/main">
            <a:off x="594360" y="3081528"/>
            <a:ext cx="2468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Evidence</a:t>
            </a:r>
            <a:endParaRPr sz="1200"/>
          </a:p>
        </p:txBody>
      </p:sp>
      <p:sp>
        <p:nvSpPr>
          <p:cNvPr id="15" name="Text 13">
            <a:extLst xmlns:a="http://schemas.openxmlformats.org/drawingml/2006/main">
              <a:ext uri="{FF2B5EF4-FFF2-40B4-BE49-F238E27FC236}">
                <a16:creationId xmlns:a16="http://schemas.microsoft.com/office/drawing/2014/main" id="{B903A038-324F-4D6F-B711-235D1CDDF7F9}"/>
              </a:ext>
            </a:extLst>
          </p:cNvPr>
          <p:cNvSpPr>
            <a:spLocks xmlns:a="http://schemas.openxmlformats.org/drawingml/2006/main" noGrp="1"/>
          </p:cNvSpPr>
          <p:nvPr/>
        </p:nvSpPr>
        <p:spPr>
          <a:xfrm xmlns:a="http://schemas.openxmlformats.org/drawingml/2006/main">
            <a:off x="594360" y="3355848"/>
            <a:ext cx="246888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0">
                <a:solidFill>
                  <a:srgbClr val="334155"/>
                </a:solidFill>
              </a:defRPr>
            </a:defPPr>
          </a:lstStyle>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Mumbai water research documents reliability concerns. Three acquired SRA listing rows supply locality leads, with no acquired service observations.</a:t>
            </a:r>
            <a:endParaRPr sz="1000"/>
          </a:p>
        </p:txBody>
      </p:sp>
      <p:sp>
        <p:nvSpPr>
          <p:cNvPr id="16" name="Shape 14">
            <a:extLst xmlns:a="http://schemas.openxmlformats.org/drawingml/2006/main">
              <a:ext uri="{FF2B5EF4-FFF2-40B4-BE49-F238E27FC236}">
                <a16:creationId xmlns:a16="http://schemas.microsoft.com/office/drawing/2014/main" id="{1B0D2E31-4102-4317-9C0D-43E90B199177}"/>
              </a:ext>
            </a:extLst>
          </p:cNvPr>
          <p:cNvSpPr>
            <a:spLocks xmlns:a="http://schemas.openxmlformats.org/drawingml/2006/main" noGrp="1"/>
          </p:cNvSpPr>
          <p:nvPr/>
        </p:nvSpPr>
        <p:spPr>
          <a:xfrm xmlns:a="http://schemas.openxmlformats.org/drawingml/2006/main">
            <a:off x="3383280" y="2971800"/>
            <a:ext cx="2743200" cy="164592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B8B3DA32-C108-4E29-A3F8-E88BC3E70921}"/>
              </a:ext>
            </a:extLst>
          </p:cNvPr>
          <p:cNvSpPr>
            <a:spLocks xmlns:a="http://schemas.openxmlformats.org/drawingml/2006/main" noGrp="1"/>
          </p:cNvSpPr>
          <p:nvPr/>
        </p:nvSpPr>
        <p:spPr>
          <a:xfrm xmlns:a="http://schemas.openxmlformats.org/drawingml/2006/main">
            <a:off x="3520440" y="3081528"/>
            <a:ext cx="2468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Current gaps</a:t>
            </a:r>
            <a:endParaRPr sz="1200"/>
          </a:p>
        </p:txBody>
      </p:sp>
      <p:sp>
        <p:nvSpPr>
          <p:cNvPr id="18" name="Text 16">
            <a:extLst xmlns:a="http://schemas.openxmlformats.org/drawingml/2006/main">
              <a:ext uri="{FF2B5EF4-FFF2-40B4-BE49-F238E27FC236}">
                <a16:creationId xmlns:a16="http://schemas.microsoft.com/office/drawing/2014/main" id="{1BE17C1A-408D-4BAE-8217-388BE347D99C}"/>
              </a:ext>
            </a:extLst>
          </p:cNvPr>
          <p:cNvSpPr>
            <a:spLocks xmlns:a="http://schemas.openxmlformats.org/drawingml/2006/main" noGrp="1"/>
          </p:cNvSpPr>
          <p:nvPr/>
        </p:nvSpPr>
        <p:spPr>
          <a:xfrm xmlns:a="http://schemas.openxmlformats.org/drawingml/2006/main">
            <a:off x="3520440" y="3355848"/>
            <a:ext cx="246888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0">
                <a:solidFill>
                  <a:srgbClr val="334155"/>
                </a:solidFill>
              </a:defRPr>
            </a:defPPr>
          </a:lstStyle>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SRA GIS, SBM monitoring and Swachhata already exist. Local omissions, review effort and the benefit of this workflow still need testing.</a:t>
            </a:r>
            <a:endParaRPr sz="1000"/>
          </a:p>
        </p:txBody>
      </p:sp>
      <p:sp>
        <p:nvSpPr>
          <p:cNvPr id="19" name="Shape 17">
            <a:extLst xmlns:a="http://schemas.openxmlformats.org/drawingml/2006/main">
              <a:ext uri="{FF2B5EF4-FFF2-40B4-BE49-F238E27FC236}">
                <a16:creationId xmlns:a16="http://schemas.microsoft.com/office/drawing/2014/main" id="{9807F1D2-515B-49CF-B601-210113F0EC49}"/>
              </a:ext>
            </a:extLst>
          </p:cNvPr>
          <p:cNvSpPr>
            <a:spLocks xmlns:a="http://schemas.openxmlformats.org/drawingml/2006/main" noGrp="1"/>
          </p:cNvSpPr>
          <p:nvPr/>
        </p:nvSpPr>
        <p:spPr>
          <a:xfrm xmlns:a="http://schemas.openxmlformats.org/drawingml/2006/main">
            <a:off x="6309360" y="1188720"/>
            <a:ext cx="2377440" cy="3429000"/>
          </a:xfrm>
          <a:prstGeom xmlns:a="http://schemas.openxmlformats.org/drawingml/2006/main" prst="roundRect">
            <a:avLst>
              <a:gd name="adj" fmla="val 3846"/>
            </a:avLst>
          </a:prstGeom>
          <a:solidFill xmlns:a="http://schemas.openxmlformats.org/drawingml/2006/main">
            <a:srgbClr val="1B2A5C"/>
          </a:solidFill>
          <a:ln xmlns:a="http://schemas.openxmlformats.org/drawingml/2006/main" w="12700">
            <a:solidFill>
              <a:srgbClr val="1B2A5C"/>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60B31CA0-F204-4399-9BAE-716B87B8675E}"/>
              </a:ext>
            </a:extLst>
          </p:cNvPr>
          <p:cNvSpPr>
            <a:spLocks xmlns:a="http://schemas.openxmlformats.org/drawingml/2006/main" noGrp="1"/>
          </p:cNvSpPr>
          <p:nvPr/>
        </p:nvSpPr>
        <p:spPr>
          <a:xfrm xmlns:a="http://schemas.openxmlformats.org/drawingml/2006/main">
            <a:off x="6400800" y="1508760"/>
            <a:ext cx="21945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2025" i="0"/>
            </a:defPPr>
          </a:lstStyle>
          <a:p xmlns:a="http://schemas.openxmlformats.org/drawingml/2006/main">
            <a:pPr marL="0" indent="0" algn="ctr">
              <a:buNone/>
              <a:defRPr sz="2025" i="0"/>
            </a:pPr>
            <a:r>
              <a:rPr sz="2025" b="1" i="0">
                <a:solidFill>
                  <a:srgbClr val="F28C28"/>
                </a:solidFill>
                <a:latin typeface="Nirmala UI"/>
                <a:ea typeface="Nirmala UI"/>
                <a:cs typeface="Nirmala UI"/>
              </a:rPr>
              <a:t>Unmeasured</a:t>
            </a:r>
            <a:endParaRPr sz="2400"/>
          </a:p>
        </p:txBody>
      </p:sp>
      <p:sp>
        <p:nvSpPr>
          <p:cNvPr id="21" name="Text 19">
            <a:extLst xmlns:a="http://schemas.openxmlformats.org/drawingml/2006/main">
              <a:ext uri="{FF2B5EF4-FFF2-40B4-BE49-F238E27FC236}">
                <a16:creationId xmlns:a16="http://schemas.microsoft.com/office/drawing/2014/main" id="{F67291E0-0662-4B20-B056-339EA08EB85E}"/>
              </a:ext>
            </a:extLst>
          </p:cNvPr>
          <p:cNvSpPr>
            <a:spLocks xmlns:a="http://schemas.openxmlformats.org/drawingml/2006/main" noGrp="1"/>
          </p:cNvSpPr>
          <p:nvPr/>
        </p:nvSpPr>
        <p:spPr>
          <a:xfrm xmlns:a="http://schemas.openxmlformats.org/drawingml/2006/main">
            <a:off x="6492240" y="2286000"/>
            <a:ext cx="20116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0">
                <a:solidFill>
                  <a:srgbClr val="FFFFFF"/>
                </a:solidFill>
              </a:defRPr>
            </a:defPPr>
          </a:lstStyle>
          <a:p xmlns:a="http://schemas.openxmlformats.org/drawingml/2006/main">
            <a:pPr marL="0" indent="0" algn="ctr">
              <a:buNone/>
              <a:defRPr i="0">
                <a:solidFill>
                  <a:srgbClr val="FFFFFF"/>
                </a:solidFill>
              </a:defRPr>
            </a:pPr>
            <a:r>
              <a:rPr sz="1050" i="0">
                <a:solidFill>
                  <a:srgbClr val="FFFFFF"/>
                </a:solidFill>
                <a:latin typeface="Nirmala UI"/>
                <a:ea typeface="Nirmala UI"/>
                <a:cs typeface="Nirmala UI"/>
              </a:rPr>
              <a:t>Current affected-household count in the proposed pilot area</a:t>
            </a:r>
            <a:endParaRPr sz="1050"/>
          </a:p>
        </p:txBody>
      </p:sp>
      <p:sp>
        <p:nvSpPr>
          <p:cNvPr id="22" name="Text 20">
            <a:extLst xmlns:a="http://schemas.openxmlformats.org/drawingml/2006/main">
              <a:ext uri="{FF2B5EF4-FFF2-40B4-BE49-F238E27FC236}">
                <a16:creationId xmlns:a16="http://schemas.microsoft.com/office/drawing/2014/main" id="{EDFC2174-FB04-4B6C-9678-B11ABE165BFF}"/>
              </a:ext>
            </a:extLst>
          </p:cNvPr>
          <p:cNvSpPr>
            <a:spLocks xmlns:a="http://schemas.openxmlformats.org/drawingml/2006/main" noGrp="1"/>
          </p:cNvSpPr>
          <p:nvPr/>
        </p:nvSpPr>
        <p:spPr>
          <a:xfrm xmlns:a="http://schemas.openxmlformats.org/drawingml/2006/main">
            <a:off x="6492240" y="3108960"/>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F28C28"/>
                </a:solidFill>
                <a:latin typeface="Nirmala UI"/>
                <a:ea typeface="Nirmala UI"/>
                <a:cs typeface="Nirmala UI"/>
              </a:rPr>
              <a:t>Why it matters</a:t>
            </a:r>
            <a:endParaRPr sz="1100"/>
          </a:p>
        </p:txBody>
      </p:sp>
      <p:sp>
        <p:nvSpPr>
          <p:cNvPr id="23" name="Text 21">
            <a:extLst xmlns:a="http://schemas.openxmlformats.org/drawingml/2006/main">
              <a:ext uri="{FF2B5EF4-FFF2-40B4-BE49-F238E27FC236}">
                <a16:creationId xmlns:a16="http://schemas.microsoft.com/office/drawing/2014/main" id="{779E6C87-3EE5-4E8D-AC11-BFBE20621F2F}"/>
              </a:ext>
            </a:extLst>
          </p:cNvPr>
          <p:cNvSpPr>
            <a:spLocks xmlns:a="http://schemas.openxmlformats.org/drawingml/2006/main" noGrp="1"/>
          </p:cNvSpPr>
          <p:nvPr/>
        </p:nvSpPr>
        <p:spPr>
          <a:xfrm xmlns:a="http://schemas.openxmlformats.org/drawingml/2006/main">
            <a:off x="6492240" y="3383280"/>
            <a:ext cx="20116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0">
                <a:solidFill>
                  <a:srgbClr val="CDD6F4"/>
                </a:solidFill>
              </a:defRPr>
            </a:defPPr>
          </a:lstStyle>
          <a:p xmlns:a="http://schemas.openxmlformats.org/drawingml/2006/main">
            <a:pPr marL="0" indent="0" algn="ctr">
              <a:buNone/>
              <a:defRPr i="0">
                <a:solidFill>
                  <a:srgbClr val="CDD6F4"/>
                </a:solidFill>
              </a:defRPr>
            </a:pPr>
            <a:r>
              <a:rPr sz="1000" i="0">
                <a:solidFill>
                  <a:srgbClr val="CDD6F4"/>
                </a:solidFill>
                <a:latin typeface="Nirmala UI"/>
                <a:ea typeface="Nirmala UI"/>
                <a:cs typeface="Nirmala UI"/>
              </a:rPr>
              <a:t>An unverified closure may leave a service problem unresolved.</a:t>
            </a:r>
            <a:endParaRPr sz="1000"/>
          </a:p>
        </p:txBody>
      </p:sp>
    </p:spTree>
    <p:extLst>
      <p:ext uri="{BB962C8B-B14F-4D97-AF65-F5344CB8AC3E}">
        <p14:creationId xmlns:p14="http://schemas.microsoft.com/office/powerpoint/2010/main" val="3759334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7F841A2-D137-4792-8B0B-7391F21A0368}"/>
              </a:ext>
            </a:extLst>
          </p:cNvPr>
          <p:cNvSpPr>
            <a:spLocks xmlns:a="http://schemas.openxmlformats.org/drawingml/2006/main" noGrp="1"/>
          </p:cNvSpPr>
          <p:nvPr/>
        </p:nvSpPr>
        <p:spPr>
          <a:xfrm xmlns:a="http://schemas.openxmlformats.org/drawingml/2006/main">
            <a:off x="457200" y="347472"/>
            <a:ext cx="502920" cy="502920"/>
          </a:xfrm>
          <a:prstGeom xmlns:a="http://schemas.openxmlformats.org/drawingml/2006/main" prst="ellipse">
            <a:avLst/>
          </a:prstGeom>
          <a:solidFill xmlns:a="http://schemas.openxmlformats.org/drawingml/2006/main">
            <a:srgbClr val="F28C28"/>
          </a:solidFill>
          <a:ln xmlns:a="http://schemas.openxmlformats.org/drawingml/2006/main" w="127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FAFB7452-5BE1-4BB9-A4F4-A2B923631466}"/>
              </a:ext>
            </a:extLst>
          </p:cNvPr>
          <p:cNvSpPr>
            <a:spLocks xmlns:a="http://schemas.openxmlformats.org/drawingml/2006/main" noGrp="1"/>
          </p:cNvSpPr>
          <p:nvPr/>
        </p:nvSpPr>
        <p:spPr>
          <a:xfrm xmlns:a="http://schemas.openxmlformats.org/drawingml/2006/main">
            <a:off x="457200" y="347472"/>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Nirmala UI"/>
                <a:ea typeface="Nirmala UI"/>
                <a:cs typeface="Nirmala UI"/>
              </a:rPr>
              <a:t>3</a:t>
            </a:r>
            <a:endParaRPr sz="1540"/>
          </a:p>
        </p:txBody>
      </p:sp>
      <p:sp>
        <p:nvSpPr>
          <p:cNvPr id="4" name="Text 2">
            <a:extLst xmlns:a="http://schemas.openxmlformats.org/drawingml/2006/main">
              <a:ext uri="{FF2B5EF4-FFF2-40B4-BE49-F238E27FC236}">
                <a16:creationId xmlns:a16="http://schemas.microsoft.com/office/drawing/2014/main" id="{A7B41A75-D245-4C51-A952-E3B199819309}"/>
              </a:ext>
            </a:extLst>
          </p:cNvPr>
          <p:cNvSpPr>
            <a:spLocks xmlns:a="http://schemas.openxmlformats.org/drawingml/2006/main" noGrp="1"/>
          </p:cNvSpPr>
          <p:nvPr/>
        </p:nvSpPr>
        <p:spPr>
          <a:xfrm xmlns:a="http://schemas.openxmlformats.org/drawingml/2006/main">
            <a:off x="1097280" y="301752"/>
            <a:ext cx="6858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1B2A5C"/>
                </a:solidFill>
                <a:latin typeface="Nirmala UI"/>
                <a:ea typeface="Nirmala UI"/>
                <a:cs typeface="Nirmala UI"/>
              </a:rPr>
              <a:t>Our Solution &amp; Innovation</a:t>
            </a:r>
            <a:endParaRPr sz="2600"/>
          </a:p>
        </p:txBody>
      </p:sp>
      <p:sp>
        <p:nvSpPr>
          <p:cNvPr id="5" name="Text 3">
            <a:extLst xmlns:a="http://schemas.openxmlformats.org/drawingml/2006/main">
              <a:ext uri="{FF2B5EF4-FFF2-40B4-BE49-F238E27FC236}">
                <a16:creationId xmlns:a16="http://schemas.microsoft.com/office/drawing/2014/main" id="{B50981F6-4721-4628-87BA-6C5D6096C087}"/>
              </a:ext>
            </a:extLst>
          </p:cNvPr>
          <p:cNvSpPr>
            <a:spLocks xmlns:a="http://schemas.openxmlformats.org/drawingml/2006/main" noGrp="1"/>
          </p:cNvSpPr>
          <p:nvPr/>
        </p:nvSpPr>
        <p:spPr>
          <a:xfrm xmlns:a="http://schemas.openxmlformats.org/drawingml/2006/main">
            <a:off x="1097280" y="713232"/>
            <a:ext cx="7589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1"/>
            </a:defPPr>
          </a:lstStyle>
          <a:p xmlns:a="http://schemas.openxmlformats.org/drawingml/2006/main">
            <a:pPr marL="0" indent="0">
              <a:buNone/>
              <a:defRPr i="1"/>
            </a:pPr>
            <a:r>
              <a:rPr sz="1100" i="1">
                <a:solidFill>
                  <a:srgbClr val="6B7280"/>
                </a:solidFill>
                <a:latin typeface="Nirmala UI"/>
                <a:ea typeface="Nirmala UI"/>
                <a:cs typeface="Nirmala UI"/>
              </a:rPr>
              <a:t>One reviewable workflow, with assumptions and unknowns visible</a:t>
            </a:r>
            <a:endParaRPr sz="1100"/>
          </a:p>
        </p:txBody>
      </p:sp>
      <p:sp>
        <p:nvSpPr>
          <p:cNvPr id="6" name="Text 4">
            <a:extLst xmlns:a="http://schemas.openxmlformats.org/drawingml/2006/main">
              <a:ext uri="{FF2B5EF4-FFF2-40B4-BE49-F238E27FC236}">
                <a16:creationId xmlns:a16="http://schemas.microsoft.com/office/drawing/2014/main" id="{6F405D72-412E-4607-AEED-F174A241A15E}"/>
              </a:ext>
            </a:extLst>
          </p:cNvPr>
          <p:cNvSpPr>
            <a:spLocks xmlns:a="http://schemas.openxmlformats.org/drawingml/2006/main" noGrp="1"/>
          </p:cNvSpPr>
          <p:nvPr/>
        </p:nvSpPr>
        <p:spPr>
          <a:xfrm xmlns:a="http://schemas.openxmlformats.org/drawingml/2006/main">
            <a:off x="5486400" y="4846320"/>
            <a:ext cx="3200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00">
                <a:solidFill>
                  <a:srgbClr val="6B7280"/>
                </a:solidFill>
                <a:latin typeface="Nirmala UI"/>
                <a:ea typeface="Nirmala UI"/>
                <a:cs typeface="Nirmala UI"/>
              </a:rPr>
              <a:t>Seva Innovation Challenge 2026  |  Slide 3 of 6</a:t>
            </a:r>
            <a:endParaRPr sz="800"/>
          </a:p>
        </p:txBody>
      </p:sp>
      <p:sp>
        <p:nvSpPr>
          <p:cNvPr id="7" name="Text 5">
            <a:extLst xmlns:a="http://schemas.openxmlformats.org/drawingml/2006/main">
              <a:ext uri="{FF2B5EF4-FFF2-40B4-BE49-F238E27FC236}">
                <a16:creationId xmlns:a16="http://schemas.microsoft.com/office/drawing/2014/main" id="{6D79812E-70B8-4ED1-BF5A-45897B575954}"/>
              </a:ext>
            </a:extLst>
          </p:cNvPr>
          <p:cNvSpPr>
            <a:spLocks xmlns:a="http://schemas.openxmlformats.org/drawingml/2006/main" noGrp="1"/>
          </p:cNvSpPr>
          <p:nvPr/>
        </p:nvSpPr>
        <p:spPr>
          <a:xfrm xmlns:a="http://schemas.openxmlformats.org/drawingml/2006/main">
            <a:off x="457200" y="1188720"/>
            <a:ext cx="3931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B2A5C"/>
                </a:solidFill>
                <a:latin typeface="Nirmala UI"/>
                <a:ea typeface="Nirmala UI"/>
                <a:cs typeface="Nirmala UI"/>
              </a:rPr>
              <a:t>Our solution in brief</a:t>
            </a:r>
            <a:endParaRPr sz="1300"/>
          </a:p>
        </p:txBody>
      </p:sp>
      <p:sp>
        <p:nvSpPr>
          <p:cNvPr id="8" name="Text 6">
            <a:extLst xmlns:a="http://schemas.openxmlformats.org/drawingml/2006/main">
              <a:ext uri="{FF2B5EF4-FFF2-40B4-BE49-F238E27FC236}">
                <a16:creationId xmlns:a16="http://schemas.microsoft.com/office/drawing/2014/main" id="{1F60E1EB-BB3D-4BBA-A830-01C69997894D}"/>
              </a:ext>
            </a:extLst>
          </p:cNvPr>
          <p:cNvSpPr>
            <a:spLocks xmlns:a="http://schemas.openxmlformats.org/drawingml/2006/main" noGrp="1"/>
          </p:cNvSpPr>
          <p:nvPr/>
        </p:nvSpPr>
        <p:spPr>
          <a:xfrm xmlns:a="http://schemas.openxmlformats.org/drawingml/2006/main">
            <a:off x="457200" y="1481328"/>
            <a:ext cx="39319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0">
                <a:solidFill>
                  <a:srgbClr val="334155"/>
                </a:solidFill>
              </a:defRPr>
            </a:defPPr>
          </a:lstStyle>
          <a:p xmlns:a="http://schemas.openxmlformats.org/drawingml/2006/main">
            <a:pPr marL="0" indent="0">
              <a:buNone/>
              <a:defRPr i="0">
                <a:solidFill>
                  <a:srgbClr val="334155"/>
                </a:solidFill>
              </a:defRPr>
            </a:pPr>
            <a:r>
              <a:rPr sz="1050" i="0">
                <a:solidFill>
                  <a:srgbClr val="334155"/>
                </a:solidFill>
                <a:latin typeface="Nirmala UI"/>
                <a:ea typeface="Nirmala UI"/>
                <a:cs typeface="Nirmala UI"/>
              </a:rPr>
              <a:t>Five screens connect a settlement map, explainable priority scores, hypothetical intervention options and a separate service-evidence review.</a:t>
            </a:r>
            <a:endParaRPr sz="1050"/>
          </a:p>
        </p:txBody>
      </p:sp>
      <p:sp>
        <p:nvSpPr>
          <p:cNvPr id="9" name="Text 7">
            <a:extLst xmlns:a="http://schemas.openxmlformats.org/drawingml/2006/main">
              <a:ext uri="{FF2B5EF4-FFF2-40B4-BE49-F238E27FC236}">
                <a16:creationId xmlns:a16="http://schemas.microsoft.com/office/drawing/2014/main" id="{2574F868-B939-4E1E-9471-5C43B2674B4E}"/>
              </a:ext>
            </a:extLst>
          </p:cNvPr>
          <p:cNvSpPr>
            <a:spLocks xmlns:a="http://schemas.openxmlformats.org/drawingml/2006/main" noGrp="1"/>
          </p:cNvSpPr>
          <p:nvPr/>
        </p:nvSpPr>
        <p:spPr>
          <a:xfrm xmlns:a="http://schemas.openxmlformats.org/drawingml/2006/main">
            <a:off x="457200" y="2377440"/>
            <a:ext cx="3931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B2A5C"/>
                </a:solidFill>
                <a:latin typeface="Nirmala UI"/>
                <a:ea typeface="Nirmala UI"/>
                <a:cs typeface="Nirmala UI"/>
              </a:rPr>
              <a:t>How it works</a:t>
            </a:r>
            <a:endParaRPr sz="1300"/>
          </a:p>
        </p:txBody>
      </p:sp>
      <p:sp>
        <p:nvSpPr>
          <p:cNvPr id="10" name="Shape 8">
            <a:extLst xmlns:a="http://schemas.openxmlformats.org/drawingml/2006/main">
              <a:ext uri="{FF2B5EF4-FFF2-40B4-BE49-F238E27FC236}">
                <a16:creationId xmlns:a16="http://schemas.microsoft.com/office/drawing/2014/main" id="{D94B1418-3357-4F03-B13B-1A716CE66F86}"/>
              </a:ext>
            </a:extLst>
          </p:cNvPr>
          <p:cNvSpPr>
            <a:spLocks xmlns:a="http://schemas.openxmlformats.org/drawingml/2006/main" noGrp="1"/>
          </p:cNvSpPr>
          <p:nvPr/>
        </p:nvSpPr>
        <p:spPr>
          <a:xfrm xmlns:a="http://schemas.openxmlformats.org/drawingml/2006/main">
            <a:off x="457200" y="2724912"/>
            <a:ext cx="1170432" cy="1783080"/>
          </a:xfrm>
          <a:prstGeom xmlns:a="http://schemas.openxmlformats.org/drawingml/2006/main" prst="roundRect">
            <a:avLst>
              <a:gd name="adj" fmla="val 6250"/>
            </a:avLst>
          </a:prstGeom>
          <a:solidFill xmlns:a="http://schemas.openxmlformats.org/drawingml/2006/main">
            <a:srgbClr val="FDEBD7"/>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7556F7C7-8377-4291-834D-3053C17AA05D}"/>
              </a:ext>
            </a:extLst>
          </p:cNvPr>
          <p:cNvSpPr>
            <a:spLocks xmlns:a="http://schemas.openxmlformats.org/drawingml/2006/main" noGrp="1"/>
          </p:cNvSpPr>
          <p:nvPr/>
        </p:nvSpPr>
        <p:spPr>
          <a:xfrm xmlns:a="http://schemas.openxmlformats.org/drawingml/2006/main">
            <a:off x="859536" y="2834640"/>
            <a:ext cx="365760" cy="365760"/>
          </a:xfrm>
          <a:prstGeom xmlns:a="http://schemas.openxmlformats.org/drawingml/2006/main" prst="ellipse">
            <a:avLst/>
          </a:prstGeom>
          <a:solidFill xmlns:a="http://schemas.openxmlformats.org/drawingml/2006/main">
            <a:srgbClr val="F28C28"/>
          </a:solidFill>
          <a:ln xmlns:a="http://schemas.openxmlformats.org/drawingml/2006/main" w="127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04D7A3A9-8006-4B8C-941E-96B989C786C2}"/>
              </a:ext>
            </a:extLst>
          </p:cNvPr>
          <p:cNvSpPr>
            <a:spLocks xmlns:a="http://schemas.openxmlformats.org/drawingml/2006/main" noGrp="1"/>
          </p:cNvSpPr>
          <p:nvPr/>
        </p:nvSpPr>
        <p:spPr>
          <a:xfrm xmlns:a="http://schemas.openxmlformats.org/drawingml/2006/main">
            <a:off x="859536" y="283464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20" b="1">
                <a:solidFill>
                  <a:srgbClr val="FFFFFF"/>
                </a:solidFill>
                <a:latin typeface="Nirmala UI"/>
                <a:ea typeface="Nirmala UI"/>
                <a:cs typeface="Nirmala UI"/>
              </a:rPr>
              <a:t>1</a:t>
            </a:r>
            <a:endParaRPr sz="1120"/>
          </a:p>
        </p:txBody>
      </p:sp>
      <p:sp>
        <p:nvSpPr>
          <p:cNvPr id="13" name="Text 11">
            <a:extLst xmlns:a="http://schemas.openxmlformats.org/drawingml/2006/main">
              <a:ext uri="{FF2B5EF4-FFF2-40B4-BE49-F238E27FC236}">
                <a16:creationId xmlns:a16="http://schemas.microsoft.com/office/drawing/2014/main" id="{0E5D7853-98B2-490C-A27F-30D7B9FBAEB4}"/>
              </a:ext>
            </a:extLst>
          </p:cNvPr>
          <p:cNvSpPr>
            <a:spLocks xmlns:a="http://schemas.openxmlformats.org/drawingml/2006/main" noGrp="1"/>
          </p:cNvSpPr>
          <p:nvPr/>
        </p:nvSpPr>
        <p:spPr>
          <a:xfrm xmlns:a="http://schemas.openxmlformats.org/drawingml/2006/main">
            <a:off x="530352" y="3273552"/>
            <a:ext cx="102412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1B2A5C"/>
                </a:solidFill>
                <a:latin typeface="Nirmala UI"/>
                <a:ea typeface="Nirmala UI"/>
                <a:cs typeface="Nirmala UI"/>
              </a:rPr>
              <a:t>Input</a:t>
            </a:r>
            <a:endParaRPr sz="1100"/>
          </a:p>
        </p:txBody>
      </p:sp>
      <p:sp>
        <p:nvSpPr>
          <p:cNvPr id="14" name="Text 12">
            <a:extLst xmlns:a="http://schemas.openxmlformats.org/drawingml/2006/main">
              <a:ext uri="{FF2B5EF4-FFF2-40B4-BE49-F238E27FC236}">
                <a16:creationId xmlns:a16="http://schemas.microsoft.com/office/drawing/2014/main" id="{E1EE966D-C7F1-44E3-857F-F7624EBF4BD5}"/>
              </a:ext>
            </a:extLst>
          </p:cNvPr>
          <p:cNvSpPr>
            <a:spLocks xmlns:a="http://schemas.openxmlformats.org/drawingml/2006/main" noGrp="1"/>
          </p:cNvSpPr>
          <p:nvPr/>
        </p:nvSpPr>
        <p:spPr>
          <a:xfrm xmlns:a="http://schemas.openxmlformats.org/drawingml/2006/main">
            <a:off x="548640" y="3566160"/>
            <a:ext cx="9875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0">
                <a:solidFill>
                  <a:srgbClr val="334155"/>
                </a:solidFill>
              </a:defRPr>
            </a:defPPr>
          </a:lstStyle>
          <a:p xmlns:a="http://schemas.openxmlformats.org/drawingml/2006/main">
            <a:pPr marL="0" indent="0" algn="ctr">
              <a:buNone/>
              <a:defRPr i="0">
                <a:solidFill>
                  <a:srgbClr val="334155"/>
                </a:solidFill>
              </a:defRPr>
            </a:pPr>
            <a:r>
              <a:rPr sz="900" i="0">
                <a:solidFill>
                  <a:srgbClr val="334155"/>
                </a:solidFill>
                <a:latin typeface="Nirmala UI"/>
                <a:ea typeface="Nirmala UI"/>
                <a:cs typeface="Nirmala UI"/>
              </a:rPr>
              <a:t>Dated indicators</a:t>
            </a:r>
            <a:endParaRPr sz="900"/>
          </a:p>
          <a:p xmlns:a="http://schemas.openxmlformats.org/drawingml/2006/main">
            <a:pPr marL="0" indent="0" algn="ctr">
              <a:buNone/>
              <a:defRPr i="0">
                <a:solidFill>
                  <a:srgbClr val="334155"/>
                </a:solidFill>
              </a:defRPr>
            </a:pPr>
            <a:r>
              <a:rPr sz="900" i="0">
                <a:solidFill>
                  <a:srgbClr val="334155"/>
                </a:solidFill>
                <a:latin typeface="Nirmala UI"/>
                <a:ea typeface="Nirmala UI"/>
                <a:cs typeface="Nirmala UI"/>
              </a:rPr>
              <a:t>and source records</a:t>
            </a:r>
          </a:p>
        </p:txBody>
      </p:sp>
      <p:sp>
        <p:nvSpPr>
          <p:cNvPr id="15" name="Text 13">
            <a:extLst xmlns:a="http://schemas.openxmlformats.org/drawingml/2006/main">
              <a:ext uri="{FF2B5EF4-FFF2-40B4-BE49-F238E27FC236}">
                <a16:creationId xmlns:a16="http://schemas.microsoft.com/office/drawing/2014/main" id="{FDC64521-0241-462A-AF07-C61318C77FDF}"/>
              </a:ext>
            </a:extLst>
          </p:cNvPr>
          <p:cNvSpPr>
            <a:spLocks xmlns:a="http://schemas.openxmlformats.org/drawingml/2006/main" noGrp="1"/>
          </p:cNvSpPr>
          <p:nvPr/>
        </p:nvSpPr>
        <p:spPr>
          <a:xfrm xmlns:a="http://schemas.openxmlformats.org/drawingml/2006/main">
            <a:off x="1627632" y="3291840"/>
            <a:ext cx="20116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200" b="1">
                <a:solidFill>
                  <a:srgbClr val="F28C28"/>
                </a:solidFill>
                <a:latin typeface="Nirmala UI"/>
                <a:ea typeface="Nirmala UI"/>
                <a:cs typeface="Nirmala UI"/>
              </a:rPr>
              <a:t>›</a:t>
            </a:r>
            <a:endParaRPr sz="2200"/>
          </a:p>
        </p:txBody>
      </p:sp>
      <p:sp>
        <p:nvSpPr>
          <p:cNvPr id="16" name="Shape 14">
            <a:extLst xmlns:a="http://schemas.openxmlformats.org/drawingml/2006/main">
              <a:ext uri="{FF2B5EF4-FFF2-40B4-BE49-F238E27FC236}">
                <a16:creationId xmlns:a16="http://schemas.microsoft.com/office/drawing/2014/main" id="{1A5CE0C8-64D5-4040-BE99-02A338E916F5}"/>
              </a:ext>
            </a:extLst>
          </p:cNvPr>
          <p:cNvSpPr>
            <a:spLocks xmlns:a="http://schemas.openxmlformats.org/drawingml/2006/main" noGrp="1"/>
          </p:cNvSpPr>
          <p:nvPr/>
        </p:nvSpPr>
        <p:spPr>
          <a:xfrm xmlns:a="http://schemas.openxmlformats.org/drawingml/2006/main">
            <a:off x="1828800" y="2724912"/>
            <a:ext cx="1170432" cy="1783080"/>
          </a:xfrm>
          <a:prstGeom xmlns:a="http://schemas.openxmlformats.org/drawingml/2006/main" prst="roundRect">
            <a:avLst>
              <a:gd name="adj" fmla="val 6250"/>
            </a:avLst>
          </a:prstGeom>
          <a:solidFill xmlns:a="http://schemas.openxmlformats.org/drawingml/2006/main">
            <a:srgbClr val="FDEBD7"/>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Shape 15">
            <a:extLst xmlns:a="http://schemas.openxmlformats.org/drawingml/2006/main">
              <a:ext uri="{FF2B5EF4-FFF2-40B4-BE49-F238E27FC236}">
                <a16:creationId xmlns:a16="http://schemas.microsoft.com/office/drawing/2014/main" id="{5CE51A75-77C9-479E-9998-1A1AA27073DD}"/>
              </a:ext>
            </a:extLst>
          </p:cNvPr>
          <p:cNvSpPr>
            <a:spLocks xmlns:a="http://schemas.openxmlformats.org/drawingml/2006/main" noGrp="1"/>
          </p:cNvSpPr>
          <p:nvPr/>
        </p:nvSpPr>
        <p:spPr>
          <a:xfrm xmlns:a="http://schemas.openxmlformats.org/drawingml/2006/main">
            <a:off x="2231136" y="2834640"/>
            <a:ext cx="365760" cy="365760"/>
          </a:xfrm>
          <a:prstGeom xmlns:a="http://schemas.openxmlformats.org/drawingml/2006/main" prst="ellipse">
            <a:avLst/>
          </a:prstGeom>
          <a:solidFill xmlns:a="http://schemas.openxmlformats.org/drawingml/2006/main">
            <a:srgbClr val="F28C28"/>
          </a:solidFill>
          <a:ln xmlns:a="http://schemas.openxmlformats.org/drawingml/2006/main" w="127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AAFB50BF-0DA3-4713-A9FF-BA7E24E61B86}"/>
              </a:ext>
            </a:extLst>
          </p:cNvPr>
          <p:cNvSpPr>
            <a:spLocks xmlns:a="http://schemas.openxmlformats.org/drawingml/2006/main" noGrp="1"/>
          </p:cNvSpPr>
          <p:nvPr/>
        </p:nvSpPr>
        <p:spPr>
          <a:xfrm xmlns:a="http://schemas.openxmlformats.org/drawingml/2006/main">
            <a:off x="2231136" y="283464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20" b="1">
                <a:solidFill>
                  <a:srgbClr val="FFFFFF"/>
                </a:solidFill>
                <a:latin typeface="Nirmala UI"/>
                <a:ea typeface="Nirmala UI"/>
                <a:cs typeface="Nirmala UI"/>
              </a:rPr>
              <a:t>2</a:t>
            </a:r>
            <a:endParaRPr sz="1120"/>
          </a:p>
        </p:txBody>
      </p:sp>
      <p:sp>
        <p:nvSpPr>
          <p:cNvPr id="19" name="Text 17">
            <a:extLst xmlns:a="http://schemas.openxmlformats.org/drawingml/2006/main">
              <a:ext uri="{FF2B5EF4-FFF2-40B4-BE49-F238E27FC236}">
                <a16:creationId xmlns:a16="http://schemas.microsoft.com/office/drawing/2014/main" id="{D775BA68-D7B7-417B-B32E-77C09E1CB20A}"/>
              </a:ext>
            </a:extLst>
          </p:cNvPr>
          <p:cNvSpPr>
            <a:spLocks xmlns:a="http://schemas.openxmlformats.org/drawingml/2006/main" noGrp="1"/>
          </p:cNvSpPr>
          <p:nvPr/>
        </p:nvSpPr>
        <p:spPr>
          <a:xfrm xmlns:a="http://schemas.openxmlformats.org/drawingml/2006/main">
            <a:off x="1901952" y="3273552"/>
            <a:ext cx="102412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1B2A5C"/>
                </a:solidFill>
                <a:latin typeface="Nirmala UI"/>
                <a:ea typeface="Nirmala UI"/>
                <a:cs typeface="Nirmala UI"/>
              </a:rPr>
              <a:t>Process</a:t>
            </a:r>
            <a:endParaRPr sz="1100"/>
          </a:p>
        </p:txBody>
      </p:sp>
      <p:sp>
        <p:nvSpPr>
          <p:cNvPr id="20" name="Text 18">
            <a:extLst xmlns:a="http://schemas.openxmlformats.org/drawingml/2006/main">
              <a:ext uri="{FF2B5EF4-FFF2-40B4-BE49-F238E27FC236}">
                <a16:creationId xmlns:a16="http://schemas.microsoft.com/office/drawing/2014/main" id="{A878A2A4-4603-4EC6-A359-4DF4701D99C0}"/>
              </a:ext>
            </a:extLst>
          </p:cNvPr>
          <p:cNvSpPr>
            <a:spLocks xmlns:a="http://schemas.openxmlformats.org/drawingml/2006/main" noGrp="1"/>
          </p:cNvSpPr>
          <p:nvPr/>
        </p:nvSpPr>
        <p:spPr>
          <a:xfrm xmlns:a="http://schemas.openxmlformats.org/drawingml/2006/main">
            <a:off x="1920240" y="3566160"/>
            <a:ext cx="9875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0">
                <a:solidFill>
                  <a:srgbClr val="334155"/>
                </a:solidFill>
              </a:defRPr>
            </a:defPPr>
          </a:lstStyle>
          <a:p xmlns:a="http://schemas.openxmlformats.org/drawingml/2006/main">
            <a:pPr marL="0" indent="0" algn="ctr">
              <a:buNone/>
              <a:defRPr i="0">
                <a:solidFill>
                  <a:srgbClr val="334155"/>
                </a:solidFill>
              </a:defRPr>
            </a:pPr>
            <a:r>
              <a:rPr sz="900" i="0">
                <a:solidFill>
                  <a:srgbClr val="334155"/>
                </a:solidFill>
                <a:latin typeface="Nirmala UI"/>
                <a:ea typeface="Nirmala UI"/>
                <a:cs typeface="Nirmala UI"/>
              </a:rPr>
              <a:t>Transparent scores</a:t>
            </a:r>
            <a:endParaRPr sz="900"/>
          </a:p>
          <a:p xmlns:a="http://schemas.openxmlformats.org/drawingml/2006/main">
            <a:pPr marL="0" indent="0" algn="ctr">
              <a:buNone/>
              <a:defRPr i="0">
                <a:solidFill>
                  <a:srgbClr val="334155"/>
                </a:solidFill>
              </a:defRPr>
            </a:pPr>
            <a:r>
              <a:rPr sz="900" i="0">
                <a:solidFill>
                  <a:srgbClr val="334155"/>
                </a:solidFill>
                <a:latin typeface="Nirmala UI"/>
                <a:ea typeface="Nirmala UI"/>
                <a:cs typeface="Nirmala UI"/>
              </a:rPr>
              <a:t>and scenario costs</a:t>
            </a:r>
          </a:p>
        </p:txBody>
      </p:sp>
      <p:sp>
        <p:nvSpPr>
          <p:cNvPr id="21" name="Text 19">
            <a:extLst xmlns:a="http://schemas.openxmlformats.org/drawingml/2006/main">
              <a:ext uri="{FF2B5EF4-FFF2-40B4-BE49-F238E27FC236}">
                <a16:creationId xmlns:a16="http://schemas.microsoft.com/office/drawing/2014/main" id="{1249A6AF-8F37-4617-B488-DCFA360E1850}"/>
              </a:ext>
            </a:extLst>
          </p:cNvPr>
          <p:cNvSpPr>
            <a:spLocks xmlns:a="http://schemas.openxmlformats.org/drawingml/2006/main" noGrp="1"/>
          </p:cNvSpPr>
          <p:nvPr/>
        </p:nvSpPr>
        <p:spPr>
          <a:xfrm xmlns:a="http://schemas.openxmlformats.org/drawingml/2006/main">
            <a:off x="2999232" y="3291840"/>
            <a:ext cx="20116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200" b="1">
                <a:solidFill>
                  <a:srgbClr val="F28C28"/>
                </a:solidFill>
                <a:latin typeface="Nirmala UI"/>
                <a:ea typeface="Nirmala UI"/>
                <a:cs typeface="Nirmala UI"/>
              </a:rPr>
              <a:t>›</a:t>
            </a:r>
            <a:endParaRPr sz="2200"/>
          </a:p>
        </p:txBody>
      </p:sp>
      <p:sp>
        <p:nvSpPr>
          <p:cNvPr id="22" name="Shape 20">
            <a:extLst xmlns:a="http://schemas.openxmlformats.org/drawingml/2006/main">
              <a:ext uri="{FF2B5EF4-FFF2-40B4-BE49-F238E27FC236}">
                <a16:creationId xmlns:a16="http://schemas.microsoft.com/office/drawing/2014/main" id="{DC1E3EC7-7720-438F-8838-EFBA391CECA8}"/>
              </a:ext>
            </a:extLst>
          </p:cNvPr>
          <p:cNvSpPr>
            <a:spLocks xmlns:a="http://schemas.openxmlformats.org/drawingml/2006/main" noGrp="1"/>
          </p:cNvSpPr>
          <p:nvPr/>
        </p:nvSpPr>
        <p:spPr>
          <a:xfrm xmlns:a="http://schemas.openxmlformats.org/drawingml/2006/main">
            <a:off x="3200400" y="2724912"/>
            <a:ext cx="1170432" cy="1783080"/>
          </a:xfrm>
          <a:prstGeom xmlns:a="http://schemas.openxmlformats.org/drawingml/2006/main" prst="roundRect">
            <a:avLst>
              <a:gd name="adj" fmla="val 6250"/>
            </a:avLst>
          </a:prstGeom>
          <a:solidFill xmlns:a="http://schemas.openxmlformats.org/drawingml/2006/main">
            <a:srgbClr val="FDEBD7"/>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Shape 21">
            <a:extLst xmlns:a="http://schemas.openxmlformats.org/drawingml/2006/main">
              <a:ext uri="{FF2B5EF4-FFF2-40B4-BE49-F238E27FC236}">
                <a16:creationId xmlns:a16="http://schemas.microsoft.com/office/drawing/2014/main" id="{0D84CCD1-971C-4E4D-9589-0DD9BA374633}"/>
              </a:ext>
            </a:extLst>
          </p:cNvPr>
          <p:cNvSpPr>
            <a:spLocks xmlns:a="http://schemas.openxmlformats.org/drawingml/2006/main" noGrp="1"/>
          </p:cNvSpPr>
          <p:nvPr/>
        </p:nvSpPr>
        <p:spPr>
          <a:xfrm xmlns:a="http://schemas.openxmlformats.org/drawingml/2006/main">
            <a:off x="3602736" y="2834640"/>
            <a:ext cx="365760" cy="365760"/>
          </a:xfrm>
          <a:prstGeom xmlns:a="http://schemas.openxmlformats.org/drawingml/2006/main" prst="ellipse">
            <a:avLst/>
          </a:prstGeom>
          <a:solidFill xmlns:a="http://schemas.openxmlformats.org/drawingml/2006/main">
            <a:srgbClr val="F28C28"/>
          </a:solidFill>
          <a:ln xmlns:a="http://schemas.openxmlformats.org/drawingml/2006/main" w="127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302E68EA-EF7E-45C1-BBF1-FDECC2FD5046}"/>
              </a:ext>
            </a:extLst>
          </p:cNvPr>
          <p:cNvSpPr>
            <a:spLocks xmlns:a="http://schemas.openxmlformats.org/drawingml/2006/main" noGrp="1"/>
          </p:cNvSpPr>
          <p:nvPr/>
        </p:nvSpPr>
        <p:spPr>
          <a:xfrm xmlns:a="http://schemas.openxmlformats.org/drawingml/2006/main">
            <a:off x="3602736" y="283464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20" b="1">
                <a:solidFill>
                  <a:srgbClr val="FFFFFF"/>
                </a:solidFill>
                <a:latin typeface="Nirmala UI"/>
                <a:ea typeface="Nirmala UI"/>
                <a:cs typeface="Nirmala UI"/>
              </a:rPr>
              <a:t>3</a:t>
            </a:r>
            <a:endParaRPr sz="1120"/>
          </a:p>
        </p:txBody>
      </p:sp>
      <p:sp>
        <p:nvSpPr>
          <p:cNvPr id="25" name="Text 23">
            <a:extLst xmlns:a="http://schemas.openxmlformats.org/drawingml/2006/main">
              <a:ext uri="{FF2B5EF4-FFF2-40B4-BE49-F238E27FC236}">
                <a16:creationId xmlns:a16="http://schemas.microsoft.com/office/drawing/2014/main" id="{0503C7C6-B30D-4B2A-94E6-9125F8C3B5A3}"/>
              </a:ext>
            </a:extLst>
          </p:cNvPr>
          <p:cNvSpPr>
            <a:spLocks xmlns:a="http://schemas.openxmlformats.org/drawingml/2006/main" noGrp="1"/>
          </p:cNvSpPr>
          <p:nvPr/>
        </p:nvSpPr>
        <p:spPr>
          <a:xfrm xmlns:a="http://schemas.openxmlformats.org/drawingml/2006/main">
            <a:off x="3273552" y="3273552"/>
            <a:ext cx="102412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1B2A5C"/>
                </a:solidFill>
                <a:latin typeface="Nirmala UI"/>
                <a:ea typeface="Nirmala UI"/>
                <a:cs typeface="Nirmala UI"/>
              </a:rPr>
              <a:t>Output</a:t>
            </a:r>
            <a:endParaRPr sz="1100"/>
          </a:p>
        </p:txBody>
      </p:sp>
      <p:sp>
        <p:nvSpPr>
          <p:cNvPr id="26" name="Text 24">
            <a:extLst xmlns:a="http://schemas.openxmlformats.org/drawingml/2006/main">
              <a:ext uri="{FF2B5EF4-FFF2-40B4-BE49-F238E27FC236}">
                <a16:creationId xmlns:a16="http://schemas.microsoft.com/office/drawing/2014/main" id="{5E340595-1331-44D0-A409-84155E1261FB}"/>
              </a:ext>
            </a:extLst>
          </p:cNvPr>
          <p:cNvSpPr>
            <a:spLocks xmlns:a="http://schemas.openxmlformats.org/drawingml/2006/main" noGrp="1"/>
          </p:cNvSpPr>
          <p:nvPr/>
        </p:nvSpPr>
        <p:spPr>
          <a:xfrm xmlns:a="http://schemas.openxmlformats.org/drawingml/2006/main">
            <a:off x="3291840" y="3566160"/>
            <a:ext cx="9875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0">
                <a:solidFill>
                  <a:srgbClr val="334155"/>
                </a:solidFill>
              </a:defRPr>
            </a:defPPr>
          </a:lstStyle>
          <a:p xmlns:a="http://schemas.openxmlformats.org/drawingml/2006/main">
            <a:pPr marL="0" indent="0" algn="ctr">
              <a:buNone/>
              <a:defRPr i="0">
                <a:solidFill>
                  <a:srgbClr val="334155"/>
                </a:solidFill>
              </a:defRPr>
            </a:pPr>
            <a:r>
              <a:rPr sz="900" i="0">
                <a:solidFill>
                  <a:srgbClr val="334155"/>
                </a:solidFill>
                <a:latin typeface="Nirmala UI"/>
                <a:ea typeface="Nirmala UI"/>
                <a:cs typeface="Nirmala UI"/>
              </a:rPr>
              <a:t>Inspection brief</a:t>
            </a:r>
            <a:endParaRPr sz="900"/>
          </a:p>
          <a:p xmlns:a="http://schemas.openxmlformats.org/drawingml/2006/main">
            <a:pPr marL="0" indent="0" algn="ctr">
              <a:buNone/>
              <a:defRPr i="0">
                <a:solidFill>
                  <a:srgbClr val="334155"/>
                </a:solidFill>
              </a:defRPr>
            </a:pPr>
            <a:r>
              <a:rPr sz="900" i="0">
                <a:solidFill>
                  <a:srgbClr val="334155"/>
                </a:solidFill>
                <a:latin typeface="Nirmala UI"/>
                <a:ea typeface="Nirmala UI"/>
                <a:cs typeface="Nirmala UI"/>
              </a:rPr>
              <a:t>and service review</a:t>
            </a:r>
          </a:p>
        </p:txBody>
      </p:sp>
      <p:sp>
        <p:nvSpPr>
          <p:cNvPr id="27" name="Text 25">
            <a:extLst xmlns:a="http://schemas.openxmlformats.org/drawingml/2006/main">
              <a:ext uri="{FF2B5EF4-FFF2-40B4-BE49-F238E27FC236}">
                <a16:creationId xmlns:a16="http://schemas.microsoft.com/office/drawing/2014/main" id="{1B62B099-1973-4258-AC22-2A2AB4D54615}"/>
              </a:ext>
            </a:extLst>
          </p:cNvPr>
          <p:cNvSpPr>
            <a:spLocks xmlns:a="http://schemas.openxmlformats.org/drawingml/2006/main" noGrp="1"/>
          </p:cNvSpPr>
          <p:nvPr/>
        </p:nvSpPr>
        <p:spPr>
          <a:xfrm xmlns:a="http://schemas.openxmlformats.org/drawingml/2006/main">
            <a:off x="4754880" y="1188720"/>
            <a:ext cx="3931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B2A5C"/>
                </a:solidFill>
                <a:latin typeface="Nirmala UI"/>
                <a:ea typeface="Nirmala UI"/>
                <a:cs typeface="Nirmala UI"/>
              </a:rPr>
              <a:t>What makes it new?</a:t>
            </a:r>
            <a:endParaRPr sz="1300"/>
          </a:p>
        </p:txBody>
      </p:sp>
      <p:graphicFrame>
        <p:nvGraphicFramePr>
          <p:cNvPr id="28" name="Table 0">
            <a:extLst xmlns:a="http://schemas.openxmlformats.org/drawingml/2006/main">
              <a:ext uri="{FF2B5EF4-FFF2-40B4-BE49-F238E27FC236}">
                <a16:creationId xmlns:a16="http://schemas.microsoft.com/office/drawing/2014/main" id="{4CB90D39-1A75-4FA2-B4BD-4AF226566B0E}"/>
              </a:ext>
            </a:extLst>
          </p:cNvPr>
          <p:cNvGraphicFramePr/>
          <p:nvPr/>
        </p:nvGraphicFramePr>
        <p:xfrm>
          <a:off xmlns:a="http://schemas.openxmlformats.org/drawingml/2006/main" x="4754880" y="1536192"/>
          <a:ext xmlns:a="http://schemas.openxmlformats.org/drawingml/2006/main" cx="3931920" cy="1920240"/>
        </p:xfrm>
        <a:graphic xmlns:a="http://schemas.openxmlformats.org/drawingml/2006/main">
          <a:graphicData uri="http://schemas.openxmlformats.org/drawingml/2006/table">
            <a:tbl>
              <a:tblPr/>
              <a:tblGrid>
                <a:gridCol w="1188720"/>
                <a:gridCol w="1371600"/>
                <a:gridCol w="1371600"/>
              </a:tblGrid>
              <a:tr h="384048">
                <a:tc>
                  <a:txBody>
                    <a:bodyPr/>
                    <a:lstStyle/>
                    <a:p>
                      <a:pPr marL="0" indent="0">
                        <a:buNone/>
                      </a:pPr>
                      <a:r>
                        <a:t/>
                      </a:r>
                      <a:endParaRPr sz="1000">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1B2A5C"/>
                    </a:solidFill>
                  </a:tcPr>
                </a:tc>
                <a:tc>
                  <a:txBody>
                    <a:bodyPr/>
                    <a:lstStyle/>
                    <a:p>
                      <a:pPr marL="0" indent="0">
                        <a:buNone/>
                      </a:pPr>
                      <a:r>
                        <a:rPr sz="1000" b="1">
                          <a:solidFill>
                            <a:srgbClr val="FFFFFF"/>
                          </a:solidFill>
                          <a:latin typeface="Nirmala UI"/>
                          <a:ea typeface="Nirmala UI"/>
                          <a:cs typeface="Nirmala UI"/>
                        </a:rPr>
                        <a:t>Existing approach</a:t>
                      </a:r>
                      <a:endParaRPr sz="1000">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1B2A5C"/>
                    </a:solidFill>
                  </a:tcPr>
                </a:tc>
                <a:tc>
                  <a:txBody>
                    <a:bodyPr/>
                    <a:lstStyle/>
                    <a:p>
                      <a:pPr marL="0" indent="0">
                        <a:buNone/>
                      </a:pPr>
                      <a:r>
                        <a:rPr sz="1000" b="1">
                          <a:solidFill>
                            <a:srgbClr val="FFFFFF"/>
                          </a:solidFill>
                          <a:latin typeface="Nirmala UI"/>
                          <a:ea typeface="Nirmala UI"/>
                          <a:cs typeface="Nirmala UI"/>
                        </a:rPr>
                        <a:t>UrbanSaarthi</a:t>
                      </a:r>
                      <a:endParaRPr sz="1000">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28C28"/>
                    </a:solidFill>
                  </a:tcPr>
                </a:tc>
              </a:tr>
              <a:tr h="384048">
                <a:tc>
                  <a:txBody>
                    <a:bodyPr/>
                    <a:lstStyle/>
                    <a:p>
                      <a:pPr marL="0" indent="0">
                        <a:buNone/>
                      </a:pPr>
                      <a:r>
                        <a:rPr sz="1000" b="1">
                          <a:solidFill>
                            <a:srgbClr val="1B2A5C"/>
                          </a:solidFill>
                          <a:latin typeface="Nirmala UI"/>
                          <a:ea typeface="Nirmala UI"/>
                          <a:cs typeface="Nirmala UI"/>
                        </a:rPr>
                        <a:t>Cost</a:t>
                      </a:r>
                      <a:endParaRPr sz="1000">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4F6FB"/>
                    </a:solidFill>
                  </a:tcPr>
                </a:tc>
                <a:tc>
                  <a:txBody>
                    <a:bodyPr/>
                    <a:lstStyle/>
                    <a:p>
                      <a:pPr marL="0" indent="0">
                        <a:buNone/>
                      </a:pPr>
                      <a:r>
                        <a:rPr sz="1000" i="1">
                          <a:solidFill>
                            <a:srgbClr val="6B7280"/>
                          </a:solidFill>
                          <a:latin typeface="Nirmala UI"/>
                          <a:ea typeface="Nirmala UI"/>
                          <a:cs typeface="Nirmala UI"/>
                        </a:rPr>
                        <a:t>Not measured</a:t>
                      </a:r>
                      <a:endParaRPr sz="1000">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4F6FB"/>
                    </a:solidFill>
                  </a:tcPr>
                </a:tc>
                <a:tc>
                  <a:txBody>
                    <a:bodyPr/>
                    <a:lstStyle/>
                    <a:p>
                      <a:pPr marL="0" indent="0">
                        <a:buNone/>
                      </a:pPr>
                      <a:r>
                        <a:rPr sz="1000" i="1">
                          <a:solidFill>
                            <a:srgbClr val="6B7280"/>
                          </a:solidFill>
                          <a:latin typeface="Nirmala UI"/>
                          <a:ea typeface="Nirmala UI"/>
                          <a:cs typeface="Nirmala UI"/>
                        </a:rPr>
                        <a:t>Assumed INR 132,000</a:t>
                      </a:r>
                      <a:endParaRPr sz="1000">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4F6FB"/>
                    </a:solidFill>
                  </a:tcPr>
                </a:tc>
              </a:tr>
              <a:tr h="384048">
                <a:tc>
                  <a:txBody>
                    <a:bodyPr/>
                    <a:lstStyle/>
                    <a:p>
                      <a:pPr marL="0" indent="0">
                        <a:buNone/>
                      </a:pPr>
                      <a:r>
                        <a:rPr sz="1000" b="1">
                          <a:solidFill>
                            <a:srgbClr val="1B2A5C"/>
                          </a:solidFill>
                          <a:latin typeface="Nirmala UI"/>
                          <a:ea typeface="Nirmala UI"/>
                          <a:cs typeface="Nirmala UI"/>
                        </a:rPr>
                        <a:t>Speed / time</a:t>
                      </a:r>
                      <a:endParaRPr sz="1000">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FFFFF"/>
                    </a:solidFill>
                  </a:tcPr>
                </a:tc>
                <a:tc>
                  <a:txBody>
                    <a:bodyPr/>
                    <a:lstStyle/>
                    <a:p>
                      <a:pPr marL="0" indent="0">
                        <a:buNone/>
                      </a:pPr>
                      <a:r>
                        <a:rPr sz="1000" i="1">
                          <a:solidFill>
                            <a:srgbClr val="6B7280"/>
                          </a:solidFill>
                          <a:latin typeface="Nirmala UI"/>
                          <a:ea typeface="Nirmala UI"/>
                          <a:cs typeface="Nirmala UI"/>
                        </a:rPr>
                        <a:t>Not measured</a:t>
                      </a:r>
                      <a:endParaRPr sz="1000">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FFFFF"/>
                    </a:solidFill>
                  </a:tcPr>
                </a:tc>
                <a:tc>
                  <a:txBody>
                    <a:bodyPr/>
                    <a:lstStyle/>
                    <a:p>
                      <a:pPr marL="0" indent="0">
                        <a:buNone/>
                      </a:pPr>
                      <a:r>
                        <a:rPr sz="1000" i="1">
                          <a:solidFill>
                            <a:srgbClr val="6B7280"/>
                          </a:solidFill>
                          <a:latin typeface="Nirmala UI"/>
                          <a:ea typeface="Nirmala UI"/>
                          <a:cs typeface="Nirmala UI"/>
                        </a:rPr>
                        <a:t>Paired test planned</a:t>
                      </a:r>
                      <a:endParaRPr sz="1000">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FFFFF"/>
                    </a:solidFill>
                  </a:tcPr>
                </a:tc>
              </a:tr>
              <a:tr h="384048">
                <a:tc>
                  <a:txBody>
                    <a:bodyPr/>
                    <a:lstStyle/>
                    <a:p>
                      <a:pPr marL="0" indent="0">
                        <a:buNone/>
                      </a:pPr>
                      <a:r>
                        <a:rPr sz="1000" b="1">
                          <a:solidFill>
                            <a:srgbClr val="1B2A5C"/>
                          </a:solidFill>
                          <a:latin typeface="Nirmala UI"/>
                          <a:ea typeface="Nirmala UI"/>
                          <a:cs typeface="Nirmala UI"/>
                        </a:rPr>
                        <a:t>Reach / access</a:t>
                      </a:r>
                      <a:endParaRPr sz="1000">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4F6FB"/>
                    </a:solidFill>
                  </a:tcPr>
                </a:tc>
                <a:tc>
                  <a:txBody>
                    <a:bodyPr/>
                    <a:lstStyle/>
                    <a:p>
                      <a:pPr marL="0" indent="0">
                        <a:buNone/>
                      </a:pPr>
                      <a:r>
                        <a:rPr sz="1000" i="1">
                          <a:solidFill>
                            <a:srgbClr val="6B7280"/>
                          </a:solidFill>
                          <a:latin typeface="Nirmala UI"/>
                          <a:ea typeface="Nirmala UI"/>
                          <a:cs typeface="Nirmala UI"/>
                        </a:rPr>
                        <a:t>Existing channels</a:t>
                      </a:r>
                      <a:endParaRPr sz="1000">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4F6FB"/>
                    </a:solidFill>
                  </a:tcPr>
                </a:tc>
                <a:tc>
                  <a:txBody>
                    <a:bodyPr/>
                    <a:lstStyle/>
                    <a:p>
                      <a:pPr marL="0" indent="0">
                        <a:buNone/>
                      </a:pPr>
                      <a:r>
                        <a:rPr sz="1000" i="1">
                          <a:solidFill>
                            <a:srgbClr val="6B7280"/>
                          </a:solidFill>
                          <a:latin typeface="Nirmala UI"/>
                          <a:ea typeface="Nirmala UI"/>
                          <a:cs typeface="Nirmala UI"/>
                        </a:rPr>
                        <a:t>Five demo clusters</a:t>
                      </a:r>
                      <a:endParaRPr sz="1000">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4F6FB"/>
                    </a:solidFill>
                  </a:tcPr>
                </a:tc>
              </a:tr>
              <a:tr h="384048">
                <a:tc>
                  <a:txBody>
                    <a:bodyPr/>
                    <a:lstStyle/>
                    <a:p>
                      <a:pPr marL="0" indent="0">
                        <a:buNone/>
                      </a:pPr>
                      <a:r>
                        <a:rPr sz="1000" b="1">
                          <a:solidFill>
                            <a:srgbClr val="1B2A5C"/>
                          </a:solidFill>
                          <a:latin typeface="Nirmala UI"/>
                          <a:ea typeface="Nirmala UI"/>
                          <a:cs typeface="Nirmala UI"/>
                        </a:rPr>
                        <a:t>Ease of use</a:t>
                      </a:r>
                      <a:endParaRPr sz="1000">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FFFFF"/>
                    </a:solidFill>
                  </a:tcPr>
                </a:tc>
                <a:tc>
                  <a:txBody>
                    <a:bodyPr/>
                    <a:lstStyle/>
                    <a:p>
                      <a:pPr marL="0" indent="0">
                        <a:buNone/>
                      </a:pPr>
                      <a:r>
                        <a:rPr sz="1000" i="1">
                          <a:solidFill>
                            <a:srgbClr val="6B7280"/>
                          </a:solidFill>
                          <a:latin typeface="Nirmala UI"/>
                          <a:ea typeface="Nirmala UI"/>
                          <a:cs typeface="Nirmala UI"/>
                        </a:rPr>
                        <a:t>Not measured</a:t>
                      </a:r>
                      <a:endParaRPr sz="1000">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FFFFF"/>
                    </a:solidFill>
                  </a:tcPr>
                </a:tc>
                <a:tc>
                  <a:txBody>
                    <a:bodyPr/>
                    <a:lstStyle/>
                    <a:p>
                      <a:pPr marL="0" indent="0">
                        <a:buNone/>
                      </a:pPr>
                      <a:r>
                        <a:rPr sz="1000" i="1">
                          <a:solidFill>
                            <a:srgbClr val="6B7280"/>
                          </a:solidFill>
                          <a:latin typeface="Nirmala UI"/>
                          <a:ea typeface="Nirmala UI"/>
                          <a:cs typeface="Nirmala UI"/>
                        </a:rPr>
                        <a:t>User testing needed</a:t>
                      </a:r>
                      <a:endParaRPr sz="1000">
                        <a:latin typeface="Nirmala UI"/>
                        <a:ea typeface="Nirmala UI"/>
                        <a:cs typeface="Nirmala UI"/>
                      </a:endParaRPr>
                    </a:p>
                  </a:txBody>
                  <a:tcPr marL="91440" marR="91440" marT="45720" marB="45720" anchor="ctr">
                    <a:lnL w="6350" cmpd="sng">
                      <a:solidFill>
                        <a:srgbClr val="D9DEEA"/>
                      </a:solidFill>
                      <a:prstDash val="solid"/>
                    </a:lnL>
                    <a:lnR w="6350" cmpd="sng">
                      <a:solidFill>
                        <a:srgbClr val="D9DEEA"/>
                      </a:solidFill>
                      <a:prstDash val="solid"/>
                    </a:lnR>
                    <a:lnT w="6350" cmpd="sng">
                      <a:solidFill>
                        <a:srgbClr val="D9DEEA"/>
                      </a:solidFill>
                      <a:prstDash val="solid"/>
                    </a:lnT>
                    <a:lnB w="6350" cmpd="sng">
                      <a:solidFill>
                        <a:srgbClr val="D9DEEA"/>
                      </a:solidFill>
                      <a:prstDash val="solid"/>
                    </a:lnB>
                    <a:solidFill>
                      <a:srgbClr val="FFFFFF"/>
                    </a:solidFill>
                  </a:tcPr>
                </a:tc>
              </a:tr>
            </a:tbl>
          </a:graphicData>
        </a:graphic>
      </p:graphicFrame>
      <p:sp>
        <p:nvSpPr>
          <p:cNvPr id="29" name="Text 26">
            <a:extLst xmlns:a="http://schemas.openxmlformats.org/drawingml/2006/main">
              <a:ext uri="{FF2B5EF4-FFF2-40B4-BE49-F238E27FC236}">
                <a16:creationId xmlns:a16="http://schemas.microsoft.com/office/drawing/2014/main" id="{5CC33152-C1E6-4C35-AF90-D63F5ABAA773}"/>
              </a:ext>
            </a:extLst>
          </p:cNvPr>
          <p:cNvSpPr>
            <a:spLocks xmlns:a="http://schemas.openxmlformats.org/drawingml/2006/main" noGrp="1"/>
          </p:cNvSpPr>
          <p:nvPr/>
        </p:nvSpPr>
        <p:spPr>
          <a:xfrm xmlns:a="http://schemas.openxmlformats.org/drawingml/2006/main">
            <a:off x="4754880" y="3611880"/>
            <a:ext cx="3931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0"/>
            </a:defPPr>
          </a:lstStyle>
          <a:p xmlns:a="http://schemas.openxmlformats.org/drawingml/2006/main">
            <a:pPr marL="0" indent="0">
              <a:buNone/>
              <a:defRPr i="0"/>
            </a:pPr>
            <a:r>
              <a:rPr sz="1200" b="1" i="0">
                <a:solidFill>
                  <a:srgbClr val="1B2A5C"/>
                </a:solidFill>
                <a:latin typeface="Nirmala UI"/>
                <a:ea typeface="Nirmala UI"/>
                <a:cs typeface="Nirmala UI"/>
              </a:rPr>
              <a:t>Proposed contribution</a:t>
            </a:r>
            <a:endParaRPr sz="1200"/>
          </a:p>
        </p:txBody>
      </p:sp>
      <p:sp>
        <p:nvSpPr>
          <p:cNvPr id="30" name="Text 27">
            <a:extLst xmlns:a="http://schemas.openxmlformats.org/drawingml/2006/main">
              <a:ext uri="{FF2B5EF4-FFF2-40B4-BE49-F238E27FC236}">
                <a16:creationId xmlns:a16="http://schemas.microsoft.com/office/drawing/2014/main" id="{CCA3B1D7-1015-432B-82C6-2979E32C2B7E}"/>
              </a:ext>
            </a:extLst>
          </p:cNvPr>
          <p:cNvSpPr>
            <a:spLocks xmlns:a="http://schemas.openxmlformats.org/drawingml/2006/main" noGrp="1"/>
          </p:cNvSpPr>
          <p:nvPr/>
        </p:nvSpPr>
        <p:spPr>
          <a:xfrm xmlns:a="http://schemas.openxmlformats.org/drawingml/2006/main">
            <a:off x="4754880" y="3886200"/>
            <a:ext cx="39319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0">
                <a:solidFill>
                  <a:srgbClr val="334155"/>
                </a:solidFill>
              </a:defRPr>
            </a:defPPr>
          </a:lstStyle>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Traceability across planning and verification. Incremental value remains to be tested against the current process.</a:t>
            </a:r>
            <a:endParaRPr sz="1000"/>
          </a:p>
        </p:txBody>
      </p:sp>
    </p:spTree>
    <p:extLst>
      <p:ext uri="{BB962C8B-B14F-4D97-AF65-F5344CB8AC3E}">
        <p14:creationId xmlns:p14="http://schemas.microsoft.com/office/powerpoint/2010/main" val="1065021726"/>
      </p:ext>
    </p:extLst>
  </p:cSld>
</p:sld>
</file>

<file path=ppt/slides/slide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15121C5-4963-4F54-A3DD-04A2121FD1D2}"/>
              </a:ext>
            </a:extLst>
          </p:cNvPr>
          <p:cNvSpPr>
            <a:spLocks xmlns:a="http://schemas.openxmlformats.org/drawingml/2006/main" noGrp="1"/>
          </p:cNvSpPr>
          <p:nvPr/>
        </p:nvSpPr>
        <p:spPr>
          <a:xfrm xmlns:a="http://schemas.openxmlformats.org/drawingml/2006/main">
            <a:off x="457200" y="347472"/>
            <a:ext cx="502920" cy="502920"/>
          </a:xfrm>
          <a:prstGeom xmlns:a="http://schemas.openxmlformats.org/drawingml/2006/main" prst="ellipse">
            <a:avLst/>
          </a:prstGeom>
          <a:solidFill xmlns:a="http://schemas.openxmlformats.org/drawingml/2006/main">
            <a:srgbClr val="F28C28"/>
          </a:solidFill>
          <a:ln xmlns:a="http://schemas.openxmlformats.org/drawingml/2006/main" w="127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EA7DE250-1B6C-4E61-99C8-2E20C889B338}"/>
              </a:ext>
            </a:extLst>
          </p:cNvPr>
          <p:cNvSpPr>
            <a:spLocks xmlns:a="http://schemas.openxmlformats.org/drawingml/2006/main" noGrp="1"/>
          </p:cNvSpPr>
          <p:nvPr/>
        </p:nvSpPr>
        <p:spPr>
          <a:xfrm xmlns:a="http://schemas.openxmlformats.org/drawingml/2006/main">
            <a:off x="457200" y="347472"/>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Nirmala UI"/>
                <a:ea typeface="Nirmala UI"/>
                <a:cs typeface="Nirmala UI"/>
              </a:rPr>
              <a:t>4</a:t>
            </a:r>
            <a:endParaRPr sz="1540"/>
          </a:p>
        </p:txBody>
      </p:sp>
      <p:sp>
        <p:nvSpPr>
          <p:cNvPr id="4" name="Text 2">
            <a:extLst xmlns:a="http://schemas.openxmlformats.org/drawingml/2006/main">
              <a:ext uri="{FF2B5EF4-FFF2-40B4-BE49-F238E27FC236}">
                <a16:creationId xmlns:a16="http://schemas.microsoft.com/office/drawing/2014/main" id="{9A8DB228-6772-4C77-BE16-DB12315A8921}"/>
              </a:ext>
            </a:extLst>
          </p:cNvPr>
          <p:cNvSpPr>
            <a:spLocks xmlns:a="http://schemas.openxmlformats.org/drawingml/2006/main" noGrp="1"/>
          </p:cNvSpPr>
          <p:nvPr/>
        </p:nvSpPr>
        <p:spPr>
          <a:xfrm xmlns:a="http://schemas.openxmlformats.org/drawingml/2006/main">
            <a:off x="1097280" y="301752"/>
            <a:ext cx="6858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1B2A5C"/>
                </a:solidFill>
                <a:latin typeface="Nirmala UI"/>
                <a:ea typeface="Nirmala UI"/>
                <a:cs typeface="Nirmala UI"/>
              </a:rPr>
              <a:t>Feasibility &amp; Implementation</a:t>
            </a:r>
            <a:endParaRPr sz="2600"/>
          </a:p>
        </p:txBody>
      </p:sp>
      <p:sp>
        <p:nvSpPr>
          <p:cNvPr id="5" name="Text 3">
            <a:extLst xmlns:a="http://schemas.openxmlformats.org/drawingml/2006/main">
              <a:ext uri="{FF2B5EF4-FFF2-40B4-BE49-F238E27FC236}">
                <a16:creationId xmlns:a16="http://schemas.microsoft.com/office/drawing/2014/main" id="{2A37897E-0286-4C2E-99EC-1A03EA014416}"/>
              </a:ext>
            </a:extLst>
          </p:cNvPr>
          <p:cNvSpPr>
            <a:spLocks xmlns:a="http://schemas.openxmlformats.org/drawingml/2006/main" noGrp="1"/>
          </p:cNvSpPr>
          <p:nvPr/>
        </p:nvSpPr>
        <p:spPr>
          <a:xfrm xmlns:a="http://schemas.openxmlformats.org/drawingml/2006/main">
            <a:off x="1097280" y="713232"/>
            <a:ext cx="7589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1"/>
            </a:defPPr>
          </a:lstStyle>
          <a:p xmlns:a="http://schemas.openxmlformats.org/drawingml/2006/main">
            <a:pPr marL="0" indent="0">
              <a:buNone/>
              <a:defRPr i="1"/>
            </a:pPr>
            <a:r>
              <a:rPr sz="1100" i="1">
                <a:solidFill>
                  <a:srgbClr val="6B7280"/>
                </a:solidFill>
                <a:latin typeface="Nirmala UI"/>
                <a:ea typeface="Nirmala UI"/>
                <a:cs typeface="Nirmala UI"/>
              </a:rPr>
              <a:t>Current stage: working prototype. Field validation and operating ownership remain pending.</a:t>
            </a:r>
            <a:endParaRPr sz="1100"/>
          </a:p>
        </p:txBody>
      </p:sp>
      <p:sp>
        <p:nvSpPr>
          <p:cNvPr id="6" name="Text 4">
            <a:extLst xmlns:a="http://schemas.openxmlformats.org/drawingml/2006/main">
              <a:ext uri="{FF2B5EF4-FFF2-40B4-BE49-F238E27FC236}">
                <a16:creationId xmlns:a16="http://schemas.microsoft.com/office/drawing/2014/main" id="{5236CFD4-00EF-4E90-A44B-F0A373F1C721}"/>
              </a:ext>
            </a:extLst>
          </p:cNvPr>
          <p:cNvSpPr>
            <a:spLocks xmlns:a="http://schemas.openxmlformats.org/drawingml/2006/main" noGrp="1"/>
          </p:cNvSpPr>
          <p:nvPr/>
        </p:nvSpPr>
        <p:spPr>
          <a:xfrm xmlns:a="http://schemas.openxmlformats.org/drawingml/2006/main">
            <a:off x="5486400" y="4846320"/>
            <a:ext cx="3200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00">
                <a:solidFill>
                  <a:srgbClr val="6B7280"/>
                </a:solidFill>
                <a:latin typeface="Nirmala UI"/>
                <a:ea typeface="Nirmala UI"/>
                <a:cs typeface="Nirmala UI"/>
              </a:rPr>
              <a:t>Seva Innovation Challenge 2026  |  Slide 4 of 6</a:t>
            </a:r>
            <a:endParaRPr sz="800"/>
          </a:p>
        </p:txBody>
      </p:sp>
      <p:sp>
        <p:nvSpPr>
          <p:cNvPr id="7" name="Text 5">
            <a:extLst xmlns:a="http://schemas.openxmlformats.org/drawingml/2006/main">
              <a:ext uri="{FF2B5EF4-FFF2-40B4-BE49-F238E27FC236}">
                <a16:creationId xmlns:a16="http://schemas.microsoft.com/office/drawing/2014/main" id="{1409FA3B-9400-4FC7-9BB4-85A5111081A0}"/>
              </a:ext>
            </a:extLst>
          </p:cNvPr>
          <p:cNvSpPr>
            <a:spLocks xmlns:a="http://schemas.openxmlformats.org/drawingml/2006/main" noGrp="1"/>
          </p:cNvSpPr>
          <p:nvPr/>
        </p:nvSpPr>
        <p:spPr>
          <a:xfrm xmlns:a="http://schemas.openxmlformats.org/drawingml/2006/main">
            <a:off x="457200" y="1170432"/>
            <a:ext cx="8229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0"/>
            </a:defPPr>
          </a:lstStyle>
          <a:p xmlns:a="http://schemas.openxmlformats.org/drawingml/2006/main">
            <a:pPr marL="0" indent="0">
              <a:buNone/>
              <a:defRPr i="0"/>
            </a:pPr>
            <a:r>
              <a:rPr sz="1200" b="1" i="0">
                <a:solidFill>
                  <a:srgbClr val="1B2A5C"/>
                </a:solidFill>
                <a:latin typeface="Nirmala UI"/>
                <a:ea typeface="Nirmala UI"/>
                <a:cs typeface="Nirmala UI"/>
              </a:rPr>
              <a:t>Current stage: Working Prototype</a:t>
            </a:r>
            <a:endParaRPr sz="1200"/>
          </a:p>
        </p:txBody>
      </p:sp>
      <p:sp>
        <p:nvSpPr>
          <p:cNvPr id="8" name="Shape 6">
            <a:extLst xmlns:a="http://schemas.openxmlformats.org/drawingml/2006/main">
              <a:ext uri="{FF2B5EF4-FFF2-40B4-BE49-F238E27FC236}">
                <a16:creationId xmlns:a16="http://schemas.microsoft.com/office/drawing/2014/main" id="{D1FA4B3E-04F0-42DC-BD85-2F20962456EA}"/>
              </a:ext>
            </a:extLst>
          </p:cNvPr>
          <p:cNvSpPr>
            <a:spLocks xmlns:a="http://schemas.openxmlformats.org/drawingml/2006/main" noGrp="1"/>
          </p:cNvSpPr>
          <p:nvPr/>
        </p:nvSpPr>
        <p:spPr>
          <a:xfrm xmlns:a="http://schemas.openxmlformats.org/drawingml/2006/main">
            <a:off x="914400" y="1783080"/>
            <a:ext cx="7315200" cy="0"/>
          </a:xfrm>
          <a:prstGeom xmlns:a="http://schemas.openxmlformats.org/drawingml/2006/main" prst="line">
            <a:avLst/>
          </a:prstGeom>
          <a:noFill xmlns:a="http://schemas.openxmlformats.org/drawingml/2006/main"/>
          <a:ln xmlns:a="http://schemas.openxmlformats.org/drawingml/2006/main" w="25400">
            <a:solidFill>
              <a:srgbClr val="C3CAE0"/>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hape 7">
            <a:extLst xmlns:a="http://schemas.openxmlformats.org/drawingml/2006/main">
              <a:ext uri="{FF2B5EF4-FFF2-40B4-BE49-F238E27FC236}">
                <a16:creationId xmlns:a16="http://schemas.microsoft.com/office/drawing/2014/main" id="{C219EAFC-8E7B-43BC-9908-ADB7A71F23BE}"/>
              </a:ext>
            </a:extLst>
          </p:cNvPr>
          <p:cNvSpPr>
            <a:spLocks xmlns:a="http://schemas.openxmlformats.org/drawingml/2006/main" noGrp="1"/>
          </p:cNvSpPr>
          <p:nvPr/>
        </p:nvSpPr>
        <p:spPr>
          <a:xfrm xmlns:a="http://schemas.openxmlformats.org/drawingml/2006/main">
            <a:off x="758952" y="1627632"/>
            <a:ext cx="310896" cy="310896"/>
          </a:xfrm>
          <a:prstGeom xmlns:a="http://schemas.openxmlformats.org/drawingml/2006/main" prst="ellipse">
            <a:avLst/>
          </a:prstGeom>
          <a:solidFill xmlns:a="http://schemas.openxmlformats.org/drawingml/2006/main">
            <a:srgbClr val="FFFFFF"/>
          </a:solidFill>
          <a:ln xmlns:a="http://schemas.openxmlformats.org/drawingml/2006/main" w="254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63174F02-DB74-4C1E-83D0-866DF1B29F2D}"/>
              </a:ext>
            </a:extLst>
          </p:cNvPr>
          <p:cNvSpPr>
            <a:spLocks xmlns:a="http://schemas.openxmlformats.org/drawingml/2006/main" noGrp="1"/>
          </p:cNvSpPr>
          <p:nvPr/>
        </p:nvSpPr>
        <p:spPr>
          <a:xfrm xmlns:a="http://schemas.openxmlformats.org/drawingml/2006/main">
            <a:off x="182880" y="2011680"/>
            <a:ext cx="14630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a:solidFill>
                  <a:srgbClr val="1F2937"/>
                </a:solidFill>
                <a:latin typeface="Nirmala UI"/>
                <a:ea typeface="Nirmala UI"/>
                <a:cs typeface="Nirmala UI"/>
              </a:rPr>
              <a:t>Idea</a:t>
            </a:r>
            <a:endParaRPr sz="1000"/>
          </a:p>
        </p:txBody>
      </p:sp>
      <p:sp>
        <p:nvSpPr>
          <p:cNvPr id="11" name="Shape 9">
            <a:extLst xmlns:a="http://schemas.openxmlformats.org/drawingml/2006/main">
              <a:ext uri="{FF2B5EF4-FFF2-40B4-BE49-F238E27FC236}">
                <a16:creationId xmlns:a16="http://schemas.microsoft.com/office/drawing/2014/main" id="{E80DCE95-6F08-41D2-BC07-9CA26869C842}"/>
              </a:ext>
            </a:extLst>
          </p:cNvPr>
          <p:cNvSpPr>
            <a:spLocks xmlns:a="http://schemas.openxmlformats.org/drawingml/2006/main" noGrp="1"/>
          </p:cNvSpPr>
          <p:nvPr/>
        </p:nvSpPr>
        <p:spPr>
          <a:xfrm xmlns:a="http://schemas.openxmlformats.org/drawingml/2006/main">
            <a:off x="2587752" y="1627632"/>
            <a:ext cx="310896" cy="310896"/>
          </a:xfrm>
          <a:prstGeom xmlns:a="http://schemas.openxmlformats.org/drawingml/2006/main" prst="ellipse">
            <a:avLst/>
          </a:prstGeom>
          <a:solidFill xmlns:a="http://schemas.openxmlformats.org/drawingml/2006/main">
            <a:srgbClr val="FFFFFF"/>
          </a:solidFill>
          <a:ln xmlns:a="http://schemas.openxmlformats.org/drawingml/2006/main" w="254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8F582AE5-3BB4-4FBB-814F-9D8B5B173F49}"/>
              </a:ext>
            </a:extLst>
          </p:cNvPr>
          <p:cNvSpPr>
            <a:spLocks xmlns:a="http://schemas.openxmlformats.org/drawingml/2006/main" noGrp="1"/>
          </p:cNvSpPr>
          <p:nvPr/>
        </p:nvSpPr>
        <p:spPr>
          <a:xfrm xmlns:a="http://schemas.openxmlformats.org/drawingml/2006/main">
            <a:off x="2011680" y="2011680"/>
            <a:ext cx="14630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a:solidFill>
                  <a:srgbClr val="1F2937"/>
                </a:solidFill>
                <a:latin typeface="Nirmala UI"/>
                <a:ea typeface="Nirmala UI"/>
                <a:cs typeface="Nirmala UI"/>
              </a:rPr>
              <a:t>Proof of Concept</a:t>
            </a:r>
            <a:endParaRPr sz="1000"/>
          </a:p>
        </p:txBody>
      </p:sp>
      <p:sp>
        <p:nvSpPr>
          <p:cNvPr id="13" name="Shape 11">
            <a:extLst xmlns:a="http://schemas.openxmlformats.org/drawingml/2006/main">
              <a:ext uri="{FF2B5EF4-FFF2-40B4-BE49-F238E27FC236}">
                <a16:creationId xmlns:a16="http://schemas.microsoft.com/office/drawing/2014/main" id="{856D3CF4-DDEA-4654-9BDC-D91C7B995A04}"/>
              </a:ext>
            </a:extLst>
          </p:cNvPr>
          <p:cNvSpPr>
            <a:spLocks xmlns:a="http://schemas.openxmlformats.org/drawingml/2006/main" noGrp="1"/>
          </p:cNvSpPr>
          <p:nvPr/>
        </p:nvSpPr>
        <p:spPr>
          <a:xfrm xmlns:a="http://schemas.openxmlformats.org/drawingml/2006/main">
            <a:off x="4416552" y="1627632"/>
            <a:ext cx="310896" cy="310896"/>
          </a:xfrm>
          <a:prstGeom xmlns:a="http://schemas.openxmlformats.org/drawingml/2006/main" prst="ellipse">
            <a:avLst/>
          </a:prstGeom>
          <a:solidFill xmlns:a="http://schemas.openxmlformats.org/drawingml/2006/main">
            <a:srgbClr val="F28C28"/>
          </a:solidFill>
          <a:ln xmlns:a="http://schemas.openxmlformats.org/drawingml/2006/main" w="254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62624048-9E5B-4D6C-BADA-A8A4805B869E}"/>
              </a:ext>
            </a:extLst>
          </p:cNvPr>
          <p:cNvSpPr>
            <a:spLocks xmlns:a="http://schemas.openxmlformats.org/drawingml/2006/main" noGrp="1"/>
          </p:cNvSpPr>
          <p:nvPr/>
        </p:nvSpPr>
        <p:spPr>
          <a:xfrm xmlns:a="http://schemas.openxmlformats.org/drawingml/2006/main">
            <a:off x="3840480" y="2011680"/>
            <a:ext cx="14630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a:solidFill>
                  <a:srgbClr val="1F2937"/>
                </a:solidFill>
                <a:latin typeface="Nirmala UI"/>
                <a:ea typeface="Nirmala UI"/>
                <a:cs typeface="Nirmala UI"/>
              </a:rPr>
              <a:t>Working Prototype</a:t>
            </a:r>
            <a:endParaRPr sz="1000"/>
          </a:p>
        </p:txBody>
      </p:sp>
      <p:sp>
        <p:nvSpPr>
          <p:cNvPr id="15" name="Shape 13">
            <a:extLst xmlns:a="http://schemas.openxmlformats.org/drawingml/2006/main">
              <a:ext uri="{FF2B5EF4-FFF2-40B4-BE49-F238E27FC236}">
                <a16:creationId xmlns:a16="http://schemas.microsoft.com/office/drawing/2014/main" id="{7F0B0336-6A2A-43C0-B40D-5EA79E4CEA2A}"/>
              </a:ext>
            </a:extLst>
          </p:cNvPr>
          <p:cNvSpPr>
            <a:spLocks xmlns:a="http://schemas.openxmlformats.org/drawingml/2006/main" noGrp="1"/>
          </p:cNvSpPr>
          <p:nvPr/>
        </p:nvSpPr>
        <p:spPr>
          <a:xfrm xmlns:a="http://schemas.openxmlformats.org/drawingml/2006/main">
            <a:off x="6245352" y="1627632"/>
            <a:ext cx="310896" cy="310896"/>
          </a:xfrm>
          <a:prstGeom xmlns:a="http://schemas.openxmlformats.org/drawingml/2006/main" prst="ellipse">
            <a:avLst/>
          </a:prstGeom>
          <a:solidFill xmlns:a="http://schemas.openxmlformats.org/drawingml/2006/main">
            <a:srgbClr val="FFFFFF"/>
          </a:solidFill>
          <a:ln xmlns:a="http://schemas.openxmlformats.org/drawingml/2006/main" w="254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9B98F3F3-D7D9-4684-8DA5-6A5B570614E2}"/>
              </a:ext>
            </a:extLst>
          </p:cNvPr>
          <p:cNvSpPr>
            <a:spLocks xmlns:a="http://schemas.openxmlformats.org/drawingml/2006/main" noGrp="1"/>
          </p:cNvSpPr>
          <p:nvPr/>
        </p:nvSpPr>
        <p:spPr>
          <a:xfrm xmlns:a="http://schemas.openxmlformats.org/drawingml/2006/main">
            <a:off x="5669280" y="2011680"/>
            <a:ext cx="14630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a:solidFill>
                  <a:srgbClr val="1F2937"/>
                </a:solidFill>
                <a:latin typeface="Nirmala UI"/>
                <a:ea typeface="Nirmala UI"/>
                <a:cs typeface="Nirmala UI"/>
              </a:rPr>
              <a:t>Field Pilot</a:t>
            </a:r>
            <a:endParaRPr sz="1000"/>
          </a:p>
        </p:txBody>
      </p:sp>
      <p:sp>
        <p:nvSpPr>
          <p:cNvPr id="17" name="Shape 15">
            <a:extLst xmlns:a="http://schemas.openxmlformats.org/drawingml/2006/main">
              <a:ext uri="{FF2B5EF4-FFF2-40B4-BE49-F238E27FC236}">
                <a16:creationId xmlns:a16="http://schemas.microsoft.com/office/drawing/2014/main" id="{5FBB4682-6775-4FC1-AB74-E133C5BCAD97}"/>
              </a:ext>
            </a:extLst>
          </p:cNvPr>
          <p:cNvSpPr>
            <a:spLocks xmlns:a="http://schemas.openxmlformats.org/drawingml/2006/main" noGrp="1"/>
          </p:cNvSpPr>
          <p:nvPr/>
        </p:nvSpPr>
        <p:spPr>
          <a:xfrm xmlns:a="http://schemas.openxmlformats.org/drawingml/2006/main">
            <a:off x="8074152" y="1627632"/>
            <a:ext cx="310896" cy="310896"/>
          </a:xfrm>
          <a:prstGeom xmlns:a="http://schemas.openxmlformats.org/drawingml/2006/main" prst="ellipse">
            <a:avLst/>
          </a:prstGeom>
          <a:solidFill xmlns:a="http://schemas.openxmlformats.org/drawingml/2006/main">
            <a:srgbClr val="FFFFFF"/>
          </a:solidFill>
          <a:ln xmlns:a="http://schemas.openxmlformats.org/drawingml/2006/main" w="254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89D00C74-A4F5-4EC3-BF0A-E92582CBFA74}"/>
              </a:ext>
            </a:extLst>
          </p:cNvPr>
          <p:cNvSpPr>
            <a:spLocks xmlns:a="http://schemas.openxmlformats.org/drawingml/2006/main" noGrp="1"/>
          </p:cNvSpPr>
          <p:nvPr/>
        </p:nvSpPr>
        <p:spPr>
          <a:xfrm xmlns:a="http://schemas.openxmlformats.org/drawingml/2006/main">
            <a:off x="7498080" y="2011680"/>
            <a:ext cx="14630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a:solidFill>
                  <a:srgbClr val="1F2937"/>
                </a:solidFill>
                <a:latin typeface="Nirmala UI"/>
                <a:ea typeface="Nirmala UI"/>
                <a:cs typeface="Nirmala UI"/>
              </a:rPr>
              <a:t>Ready to Deploy</a:t>
            </a:r>
            <a:endParaRPr sz="1000"/>
          </a:p>
        </p:txBody>
      </p:sp>
      <p:sp>
        <p:nvSpPr>
          <p:cNvPr id="19" name="Shape 17">
            <a:extLst xmlns:a="http://schemas.openxmlformats.org/drawingml/2006/main">
              <a:ext uri="{FF2B5EF4-FFF2-40B4-BE49-F238E27FC236}">
                <a16:creationId xmlns:a16="http://schemas.microsoft.com/office/drawing/2014/main" id="{B5F91B65-4FAC-4DE7-9981-243BCC55C879}"/>
              </a:ext>
            </a:extLst>
          </p:cNvPr>
          <p:cNvSpPr>
            <a:spLocks xmlns:a="http://schemas.openxmlformats.org/drawingml/2006/main" noGrp="1"/>
          </p:cNvSpPr>
          <p:nvPr/>
        </p:nvSpPr>
        <p:spPr>
          <a:xfrm xmlns:a="http://schemas.openxmlformats.org/drawingml/2006/main">
            <a:off x="457200" y="2514600"/>
            <a:ext cx="1920240" cy="210312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6B4367A5-46B6-48D3-AD13-004F69E2BE88}"/>
              </a:ext>
            </a:extLst>
          </p:cNvPr>
          <p:cNvSpPr>
            <a:spLocks xmlns:a="http://schemas.openxmlformats.org/drawingml/2006/main" noGrp="1"/>
          </p:cNvSpPr>
          <p:nvPr/>
        </p:nvSpPr>
        <p:spPr>
          <a:xfrm xmlns:a="http://schemas.openxmlformats.org/drawingml/2006/main">
            <a:off x="594360" y="2624328"/>
            <a:ext cx="1645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Technology</a:t>
            </a:r>
            <a:endParaRPr sz="1200"/>
          </a:p>
        </p:txBody>
      </p:sp>
      <p:sp>
        <p:nvSpPr>
          <p:cNvPr id="21" name="Text 19">
            <a:extLst xmlns:a="http://schemas.openxmlformats.org/drawingml/2006/main">
              <a:ext uri="{FF2B5EF4-FFF2-40B4-BE49-F238E27FC236}">
                <a16:creationId xmlns:a16="http://schemas.microsoft.com/office/drawing/2014/main" id="{693090EE-E79E-489B-BB34-8A87FE866036}"/>
              </a:ext>
            </a:extLst>
          </p:cNvPr>
          <p:cNvSpPr>
            <a:spLocks xmlns:a="http://schemas.openxmlformats.org/drawingml/2006/main" noGrp="1"/>
          </p:cNvSpPr>
          <p:nvPr/>
        </p:nvSpPr>
        <p:spPr>
          <a:xfrm xmlns:a="http://schemas.openxmlformats.org/drawingml/2006/main">
            <a:off x="594360" y="2898648"/>
            <a:ext cx="164592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0">
                <a:solidFill>
                  <a:srgbClr val="334155"/>
                </a:solidFill>
              </a:defRPr>
            </a:defPPr>
          </a:lstStyle>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React / Leaflet</a:t>
            </a:r>
            <a:endParaRPr sz="1000"/>
          </a:p>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FastAPI / SQLite</a:t>
            </a:r>
          </a:p>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Deterministic scoring</a:t>
            </a:r>
          </a:p>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Python consistency checks</a:t>
            </a:r>
          </a:p>
          <a:p xmlns:a="http://schemas.openxmlformats.org/drawingml/2006/main">
            <a:pPr marL="0" indent="0">
              <a:buNone/>
            </a:pPr>
          </a:p>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Synthetic service inputs</a:t>
            </a:r>
          </a:p>
        </p:txBody>
      </p:sp>
      <p:sp>
        <p:nvSpPr>
          <p:cNvPr id="22" name="Shape 20">
            <a:extLst xmlns:a="http://schemas.openxmlformats.org/drawingml/2006/main">
              <a:ext uri="{FF2B5EF4-FFF2-40B4-BE49-F238E27FC236}">
                <a16:creationId xmlns:a16="http://schemas.microsoft.com/office/drawing/2014/main" id="{41A656CD-6244-4D97-A013-D4D9DBD2914E}"/>
              </a:ext>
            </a:extLst>
          </p:cNvPr>
          <p:cNvSpPr>
            <a:spLocks xmlns:a="http://schemas.openxmlformats.org/drawingml/2006/main" noGrp="1"/>
          </p:cNvSpPr>
          <p:nvPr/>
        </p:nvSpPr>
        <p:spPr>
          <a:xfrm xmlns:a="http://schemas.openxmlformats.org/drawingml/2006/main">
            <a:off x="2560320" y="2514600"/>
            <a:ext cx="1920240" cy="210312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B8EE076A-9DC0-48F5-BBAF-F0A2BBA3BF22}"/>
              </a:ext>
            </a:extLst>
          </p:cNvPr>
          <p:cNvSpPr>
            <a:spLocks xmlns:a="http://schemas.openxmlformats.org/drawingml/2006/main" noGrp="1"/>
          </p:cNvSpPr>
          <p:nvPr/>
        </p:nvSpPr>
        <p:spPr>
          <a:xfrm xmlns:a="http://schemas.openxmlformats.org/drawingml/2006/main">
            <a:off x="2697480" y="2624328"/>
            <a:ext cx="1645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Estimated cost</a:t>
            </a:r>
            <a:endParaRPr sz="1200"/>
          </a:p>
        </p:txBody>
      </p:sp>
      <p:sp>
        <p:nvSpPr>
          <p:cNvPr id="24" name="Text 22">
            <a:extLst xmlns:a="http://schemas.openxmlformats.org/drawingml/2006/main">
              <a:ext uri="{FF2B5EF4-FFF2-40B4-BE49-F238E27FC236}">
                <a16:creationId xmlns:a16="http://schemas.microsoft.com/office/drawing/2014/main" id="{F920E111-764C-425B-88BE-246F093C3A6A}"/>
              </a:ext>
            </a:extLst>
          </p:cNvPr>
          <p:cNvSpPr>
            <a:spLocks xmlns:a="http://schemas.openxmlformats.org/drawingml/2006/main" noGrp="1"/>
          </p:cNvSpPr>
          <p:nvPr/>
        </p:nvSpPr>
        <p:spPr>
          <a:xfrm xmlns:a="http://schemas.openxmlformats.org/drawingml/2006/main">
            <a:off x="2697480" y="2898648"/>
            <a:ext cx="164592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0">
                <a:solidFill>
                  <a:srgbClr val="334155"/>
                </a:solidFill>
              </a:defRPr>
            </a:defPPr>
          </a:lstStyle>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INR 132,000 assumed</a:t>
            </a:r>
            <a:endParaRPr sz="1000"/>
          </a:p>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20 asset review scopes</a:t>
            </a:r>
          </a:p>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INR 6,600 / scope</a:t>
            </a:r>
          </a:p>
          <a:p xmlns:a="http://schemas.openxmlformats.org/drawingml/2006/main">
            <a:pPr marL="0" indent="0">
              <a:buNone/>
            </a:pPr>
          </a:p>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Household cost unknown</a:t>
            </a:r>
          </a:p>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Construction excluded</a:t>
            </a:r>
          </a:p>
        </p:txBody>
      </p:sp>
      <p:sp>
        <p:nvSpPr>
          <p:cNvPr id="25" name="Shape 23">
            <a:extLst xmlns:a="http://schemas.openxmlformats.org/drawingml/2006/main">
              <a:ext uri="{FF2B5EF4-FFF2-40B4-BE49-F238E27FC236}">
                <a16:creationId xmlns:a16="http://schemas.microsoft.com/office/drawing/2014/main" id="{8646E5AA-5875-46A2-A2DF-E6D907BE5BD2}"/>
              </a:ext>
            </a:extLst>
          </p:cNvPr>
          <p:cNvSpPr>
            <a:spLocks xmlns:a="http://schemas.openxmlformats.org/drawingml/2006/main" noGrp="1"/>
          </p:cNvSpPr>
          <p:nvPr/>
        </p:nvSpPr>
        <p:spPr>
          <a:xfrm xmlns:a="http://schemas.openxmlformats.org/drawingml/2006/main">
            <a:off x="4663440" y="2514600"/>
            <a:ext cx="1920240" cy="210312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C8A5181C-1B14-4152-807C-A675D0548D5B}"/>
              </a:ext>
            </a:extLst>
          </p:cNvPr>
          <p:cNvSpPr>
            <a:spLocks xmlns:a="http://schemas.openxmlformats.org/drawingml/2006/main" noGrp="1"/>
          </p:cNvSpPr>
          <p:nvPr/>
        </p:nvSpPr>
        <p:spPr>
          <a:xfrm xmlns:a="http://schemas.openxmlformats.org/drawingml/2006/main">
            <a:off x="4800600" y="2624328"/>
            <a:ext cx="1645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Timeline</a:t>
            </a:r>
            <a:endParaRPr sz="1200"/>
          </a:p>
        </p:txBody>
      </p:sp>
      <p:sp>
        <p:nvSpPr>
          <p:cNvPr id="27" name="Text 25">
            <a:extLst xmlns:a="http://schemas.openxmlformats.org/drawingml/2006/main">
              <a:ext uri="{FF2B5EF4-FFF2-40B4-BE49-F238E27FC236}">
                <a16:creationId xmlns:a16="http://schemas.microsoft.com/office/drawing/2014/main" id="{E289015A-B08D-46EB-8661-6F7552648B8F}"/>
              </a:ext>
            </a:extLst>
          </p:cNvPr>
          <p:cNvSpPr>
            <a:spLocks xmlns:a="http://schemas.openxmlformats.org/drawingml/2006/main" noGrp="1"/>
          </p:cNvSpPr>
          <p:nvPr/>
        </p:nvSpPr>
        <p:spPr>
          <a:xfrm xmlns:a="http://schemas.openxmlformats.org/drawingml/2006/main">
            <a:off x="4800600" y="2898648"/>
            <a:ext cx="164592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0">
                <a:solidFill>
                  <a:srgbClr val="334155"/>
                </a:solidFill>
              </a:defRPr>
            </a:defPPr>
          </a:lstStyle>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3 months: bounded trial</a:t>
            </a:r>
            <a:endParaRPr sz="1000"/>
          </a:p>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6 months: second-site test</a:t>
            </a:r>
          </a:p>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12 months: conditional handover</a:t>
            </a:r>
          </a:p>
          <a:p xmlns:a="http://schemas.openxmlformats.org/drawingml/2006/main">
            <a:pPr marL="0" indent="0">
              <a:buNone/>
            </a:pPr>
          </a:p>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Each step needs evidence and approval</a:t>
            </a:r>
          </a:p>
        </p:txBody>
      </p:sp>
      <p:sp>
        <p:nvSpPr>
          <p:cNvPr id="28" name="Shape 26">
            <a:extLst xmlns:a="http://schemas.openxmlformats.org/drawingml/2006/main">
              <a:ext uri="{FF2B5EF4-FFF2-40B4-BE49-F238E27FC236}">
                <a16:creationId xmlns:a16="http://schemas.microsoft.com/office/drawing/2014/main" id="{0AE7E3F2-0DFA-4BB8-83F4-0073EFF246D1}"/>
              </a:ext>
            </a:extLst>
          </p:cNvPr>
          <p:cNvSpPr>
            <a:spLocks xmlns:a="http://schemas.openxmlformats.org/drawingml/2006/main" noGrp="1"/>
          </p:cNvSpPr>
          <p:nvPr/>
        </p:nvSpPr>
        <p:spPr>
          <a:xfrm xmlns:a="http://schemas.openxmlformats.org/drawingml/2006/main">
            <a:off x="6766560" y="2514600"/>
            <a:ext cx="1920240" cy="210312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Text 27">
            <a:extLst xmlns:a="http://schemas.openxmlformats.org/drawingml/2006/main">
              <a:ext uri="{FF2B5EF4-FFF2-40B4-BE49-F238E27FC236}">
                <a16:creationId xmlns:a16="http://schemas.microsoft.com/office/drawing/2014/main" id="{C290CDE6-A796-40FE-A359-8EA15023AF2A}"/>
              </a:ext>
            </a:extLst>
          </p:cNvPr>
          <p:cNvSpPr>
            <a:spLocks xmlns:a="http://schemas.openxmlformats.org/drawingml/2006/main" noGrp="1"/>
          </p:cNvSpPr>
          <p:nvPr/>
        </p:nvSpPr>
        <p:spPr>
          <a:xfrm xmlns:a="http://schemas.openxmlformats.org/drawingml/2006/main">
            <a:off x="6903720" y="2624328"/>
            <a:ext cx="1645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Partners</a:t>
            </a:r>
            <a:endParaRPr sz="1200"/>
          </a:p>
        </p:txBody>
      </p:sp>
      <p:sp>
        <p:nvSpPr>
          <p:cNvPr id="30" name="Text 28">
            <a:extLst xmlns:a="http://schemas.openxmlformats.org/drawingml/2006/main">
              <a:ext uri="{FF2B5EF4-FFF2-40B4-BE49-F238E27FC236}">
                <a16:creationId xmlns:a16="http://schemas.microsoft.com/office/drawing/2014/main" id="{42615598-B4DF-4F5F-A54D-E221A34EACB9}"/>
              </a:ext>
            </a:extLst>
          </p:cNvPr>
          <p:cNvSpPr>
            <a:spLocks xmlns:a="http://schemas.openxmlformats.org/drawingml/2006/main" noGrp="1"/>
          </p:cNvSpPr>
          <p:nvPr/>
        </p:nvSpPr>
        <p:spPr>
          <a:xfrm xmlns:a="http://schemas.openxmlformats.org/drawingml/2006/main">
            <a:off x="6903720" y="2898648"/>
            <a:ext cx="164592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0">
                <a:solidFill>
                  <a:srgbClr val="334155"/>
                </a:solidFill>
              </a:defRPr>
            </a:defPPr>
          </a:lstStyle>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Prospective: BMC M-East ward and Assistant Engineer, Water Works</a:t>
            </a:r>
            <a:endParaRPr sz="1000"/>
          </a:p>
          <a:p xmlns:a="http://schemas.openxmlformats.org/drawingml/2006/main">
            <a:pPr marL="0" indent="0">
              <a:buNone/>
            </a:pPr>
          </a:p>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No office, operator or partner has agreed</a:t>
            </a:r>
          </a:p>
        </p:txBody>
      </p:sp>
    </p:spTree>
    <p:extLst>
      <p:ext uri="{BB962C8B-B14F-4D97-AF65-F5344CB8AC3E}">
        <p14:creationId xmlns:p14="http://schemas.microsoft.com/office/powerpoint/2010/main" val="170496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54980A0-8939-4F90-9D57-FFC0BB9810E7}"/>
              </a:ext>
            </a:extLst>
          </p:cNvPr>
          <p:cNvSpPr>
            <a:spLocks xmlns:a="http://schemas.openxmlformats.org/drawingml/2006/main" noGrp="1"/>
          </p:cNvSpPr>
          <p:nvPr/>
        </p:nvSpPr>
        <p:spPr>
          <a:xfrm xmlns:a="http://schemas.openxmlformats.org/drawingml/2006/main">
            <a:off x="457200" y="347472"/>
            <a:ext cx="502920" cy="502920"/>
          </a:xfrm>
          <a:prstGeom xmlns:a="http://schemas.openxmlformats.org/drawingml/2006/main" prst="ellipse">
            <a:avLst/>
          </a:prstGeom>
          <a:solidFill xmlns:a="http://schemas.openxmlformats.org/drawingml/2006/main">
            <a:srgbClr val="F28C28"/>
          </a:solidFill>
          <a:ln xmlns:a="http://schemas.openxmlformats.org/drawingml/2006/main" w="127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6804B20B-48F6-4A37-99C6-FC8E2192A7A2}"/>
              </a:ext>
            </a:extLst>
          </p:cNvPr>
          <p:cNvSpPr>
            <a:spLocks xmlns:a="http://schemas.openxmlformats.org/drawingml/2006/main" noGrp="1"/>
          </p:cNvSpPr>
          <p:nvPr/>
        </p:nvSpPr>
        <p:spPr>
          <a:xfrm xmlns:a="http://schemas.openxmlformats.org/drawingml/2006/main">
            <a:off x="457200" y="347472"/>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Nirmala UI"/>
                <a:ea typeface="Nirmala UI"/>
                <a:cs typeface="Nirmala UI"/>
              </a:rPr>
              <a:t>5</a:t>
            </a:r>
            <a:endParaRPr sz="1540"/>
          </a:p>
        </p:txBody>
      </p:sp>
      <p:sp>
        <p:nvSpPr>
          <p:cNvPr id="4" name="Text 2">
            <a:extLst xmlns:a="http://schemas.openxmlformats.org/drawingml/2006/main">
              <a:ext uri="{FF2B5EF4-FFF2-40B4-BE49-F238E27FC236}">
                <a16:creationId xmlns:a16="http://schemas.microsoft.com/office/drawing/2014/main" id="{F63F1954-F0BA-4849-A290-8D8FF3E5F246}"/>
              </a:ext>
            </a:extLst>
          </p:cNvPr>
          <p:cNvSpPr>
            <a:spLocks xmlns:a="http://schemas.openxmlformats.org/drawingml/2006/main" noGrp="1"/>
          </p:cNvSpPr>
          <p:nvPr/>
        </p:nvSpPr>
        <p:spPr>
          <a:xfrm xmlns:a="http://schemas.openxmlformats.org/drawingml/2006/main">
            <a:off x="1097280" y="301752"/>
            <a:ext cx="6858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1B2A5C"/>
                </a:solidFill>
                <a:latin typeface="Nirmala UI"/>
                <a:ea typeface="Nirmala UI"/>
                <a:cs typeface="Nirmala UI"/>
              </a:rPr>
              <a:t>Impact &amp; Scalability</a:t>
            </a:r>
            <a:endParaRPr sz="2600"/>
          </a:p>
        </p:txBody>
      </p:sp>
      <p:sp>
        <p:nvSpPr>
          <p:cNvPr id="5" name="Text 3">
            <a:extLst xmlns:a="http://schemas.openxmlformats.org/drawingml/2006/main">
              <a:ext uri="{FF2B5EF4-FFF2-40B4-BE49-F238E27FC236}">
                <a16:creationId xmlns:a16="http://schemas.microsoft.com/office/drawing/2014/main" id="{085AE6E3-2D05-4E7E-8976-092981312A08}"/>
              </a:ext>
            </a:extLst>
          </p:cNvPr>
          <p:cNvSpPr>
            <a:spLocks xmlns:a="http://schemas.openxmlformats.org/drawingml/2006/main" noGrp="1"/>
          </p:cNvSpPr>
          <p:nvPr/>
        </p:nvSpPr>
        <p:spPr>
          <a:xfrm xmlns:a="http://schemas.openxmlformats.org/drawingml/2006/main">
            <a:off x="1097280" y="713232"/>
            <a:ext cx="7589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1"/>
            </a:defPPr>
          </a:lstStyle>
          <a:p xmlns:a="http://schemas.openxmlformats.org/drawingml/2006/main">
            <a:pPr marL="0" indent="0">
              <a:buNone/>
              <a:defRPr i="1"/>
            </a:pPr>
            <a:r>
              <a:rPr sz="1100" i="1">
                <a:solidFill>
                  <a:srgbClr val="6B7280"/>
                </a:solidFill>
                <a:latin typeface="Nirmala UI"/>
                <a:ea typeface="Nirmala UI"/>
                <a:cs typeface="Nirmala UI"/>
              </a:rPr>
              <a:t>Intended outcomes require an independent comparison and repeat observations</a:t>
            </a:r>
            <a:endParaRPr sz="1100"/>
          </a:p>
        </p:txBody>
      </p:sp>
      <p:sp>
        <p:nvSpPr>
          <p:cNvPr id="6" name="Text 4">
            <a:extLst xmlns:a="http://schemas.openxmlformats.org/drawingml/2006/main">
              <a:ext uri="{FF2B5EF4-FFF2-40B4-BE49-F238E27FC236}">
                <a16:creationId xmlns:a16="http://schemas.microsoft.com/office/drawing/2014/main" id="{A934AECF-1867-4399-8056-5ACE2F62F399}"/>
              </a:ext>
            </a:extLst>
          </p:cNvPr>
          <p:cNvSpPr>
            <a:spLocks xmlns:a="http://schemas.openxmlformats.org/drawingml/2006/main" noGrp="1"/>
          </p:cNvSpPr>
          <p:nvPr/>
        </p:nvSpPr>
        <p:spPr>
          <a:xfrm xmlns:a="http://schemas.openxmlformats.org/drawingml/2006/main">
            <a:off x="5486400" y="4846320"/>
            <a:ext cx="3200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00">
                <a:solidFill>
                  <a:srgbClr val="6B7280"/>
                </a:solidFill>
                <a:latin typeface="Nirmala UI"/>
                <a:ea typeface="Nirmala UI"/>
                <a:cs typeface="Nirmala UI"/>
              </a:rPr>
              <a:t>Seva Innovation Challenge 2026  |  Slide 5 of 6</a:t>
            </a:r>
            <a:endParaRPr sz="800"/>
          </a:p>
        </p:txBody>
      </p:sp>
      <p:sp>
        <p:nvSpPr>
          <p:cNvPr id="7" name="Shape 5">
            <a:extLst xmlns:a="http://schemas.openxmlformats.org/drawingml/2006/main">
              <a:ext uri="{FF2B5EF4-FFF2-40B4-BE49-F238E27FC236}">
                <a16:creationId xmlns:a16="http://schemas.microsoft.com/office/drawing/2014/main" id="{1E50F190-7207-43B6-A7F0-5DDE3E3FE9BB}"/>
              </a:ext>
            </a:extLst>
          </p:cNvPr>
          <p:cNvSpPr>
            <a:spLocks xmlns:a="http://schemas.openxmlformats.org/drawingml/2006/main" noGrp="1"/>
          </p:cNvSpPr>
          <p:nvPr/>
        </p:nvSpPr>
        <p:spPr>
          <a:xfrm xmlns:a="http://schemas.openxmlformats.org/drawingml/2006/main">
            <a:off x="457200" y="1188720"/>
            <a:ext cx="2606040" cy="1463040"/>
          </a:xfrm>
          <a:prstGeom xmlns:a="http://schemas.openxmlformats.org/drawingml/2006/main" prst="roundRect">
            <a:avLst>
              <a:gd name="adj" fmla="val 5000"/>
            </a:avLst>
          </a:prstGeom>
          <a:solidFill xmlns:a="http://schemas.openxmlformats.org/drawingml/2006/main">
            <a:srgbClr val="FDEBD7"/>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27661143-A747-4E88-A1B8-63970F96EEB5}"/>
              </a:ext>
            </a:extLst>
          </p:cNvPr>
          <p:cNvSpPr>
            <a:spLocks xmlns:a="http://schemas.openxmlformats.org/drawingml/2006/main" noGrp="1"/>
          </p:cNvSpPr>
          <p:nvPr/>
        </p:nvSpPr>
        <p:spPr>
          <a:xfrm xmlns:a="http://schemas.openxmlformats.org/drawingml/2006/main">
            <a:off x="548640" y="1280160"/>
            <a:ext cx="2423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i="0"/>
            </a:defPPr>
          </a:lstStyle>
          <a:p xmlns:a="http://schemas.openxmlformats.org/drawingml/2006/main">
            <a:pPr marL="0" indent="0" algn="ctr">
              <a:buNone/>
              <a:defRPr sz="1950" i="0"/>
            </a:pPr>
            <a:r>
              <a:rPr sz="1950" b="1" i="0">
                <a:solidFill>
                  <a:srgbClr val="1B2A5C"/>
                </a:solidFill>
                <a:latin typeface="Nirmala UI"/>
                <a:ea typeface="Nirmala UI"/>
                <a:cs typeface="Nirmala UI"/>
              </a:rPr>
              <a:t>Unmeasured</a:t>
            </a:r>
            <a:endParaRPr sz="3000"/>
          </a:p>
        </p:txBody>
      </p:sp>
      <p:sp>
        <p:nvSpPr>
          <p:cNvPr id="9" name="Text 7">
            <a:extLst xmlns:a="http://schemas.openxmlformats.org/drawingml/2006/main">
              <a:ext uri="{FF2B5EF4-FFF2-40B4-BE49-F238E27FC236}">
                <a16:creationId xmlns:a16="http://schemas.microsoft.com/office/drawing/2014/main" id="{092EAD4D-5059-4308-B88C-7392B2BFA172}"/>
              </a:ext>
            </a:extLst>
          </p:cNvPr>
          <p:cNvSpPr>
            <a:spLocks xmlns:a="http://schemas.openxmlformats.org/drawingml/2006/main" noGrp="1"/>
          </p:cNvSpPr>
          <p:nvPr/>
        </p:nvSpPr>
        <p:spPr>
          <a:xfrm xmlns:a="http://schemas.openxmlformats.org/drawingml/2006/main">
            <a:off x="548640" y="1938528"/>
            <a:ext cx="24231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1F2937"/>
                </a:solidFill>
                <a:latin typeface="Nirmala UI"/>
                <a:ea typeface="Nirmala UI"/>
                <a:cs typeface="Nirmala UI"/>
              </a:rPr>
              <a:t>Beneficiaries reached</a:t>
            </a:r>
            <a:endParaRPr sz="1100"/>
          </a:p>
        </p:txBody>
      </p:sp>
      <p:sp>
        <p:nvSpPr>
          <p:cNvPr id="10" name="Text 8">
            <a:extLst xmlns:a="http://schemas.openxmlformats.org/drawingml/2006/main">
              <a:ext uri="{FF2B5EF4-FFF2-40B4-BE49-F238E27FC236}">
                <a16:creationId xmlns:a16="http://schemas.microsoft.com/office/drawing/2014/main" id="{3BBB6BFD-74C9-483F-9C69-9B614105627C}"/>
              </a:ext>
            </a:extLst>
          </p:cNvPr>
          <p:cNvSpPr>
            <a:spLocks xmlns:a="http://schemas.openxmlformats.org/drawingml/2006/main" noGrp="1"/>
          </p:cNvSpPr>
          <p:nvPr/>
        </p:nvSpPr>
        <p:spPr>
          <a:xfrm xmlns:a="http://schemas.openxmlformats.org/drawingml/2006/main">
            <a:off x="548640" y="2212848"/>
            <a:ext cx="2423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900" i="0"/>
            </a:defPPr>
          </a:lstStyle>
          <a:p xmlns:a="http://schemas.openxmlformats.org/drawingml/2006/main">
            <a:pPr marL="0" indent="0" algn="ctr">
              <a:buNone/>
              <a:defRPr sz="900" i="0"/>
            </a:pPr>
            <a:r>
              <a:rPr sz="900" i="0">
                <a:solidFill>
                  <a:srgbClr val="6B7280"/>
                </a:solidFill>
                <a:latin typeface="Nirmala UI"/>
                <a:ea typeface="Nirmala UI"/>
                <a:cs typeface="Nirmala UI"/>
              </a:rPr>
              <a:t>No verified beneficiary denominator</a:t>
            </a:r>
            <a:endParaRPr sz="900"/>
          </a:p>
        </p:txBody>
      </p:sp>
      <p:sp>
        <p:nvSpPr>
          <p:cNvPr id="11" name="Shape 9">
            <a:extLst xmlns:a="http://schemas.openxmlformats.org/drawingml/2006/main">
              <a:ext uri="{FF2B5EF4-FFF2-40B4-BE49-F238E27FC236}">
                <a16:creationId xmlns:a16="http://schemas.microsoft.com/office/drawing/2014/main" id="{C2F28FBB-6116-4659-A783-56283ADC98E8}"/>
              </a:ext>
            </a:extLst>
          </p:cNvPr>
          <p:cNvSpPr>
            <a:spLocks xmlns:a="http://schemas.openxmlformats.org/drawingml/2006/main" noGrp="1"/>
          </p:cNvSpPr>
          <p:nvPr/>
        </p:nvSpPr>
        <p:spPr>
          <a:xfrm xmlns:a="http://schemas.openxmlformats.org/drawingml/2006/main">
            <a:off x="3264408" y="1188720"/>
            <a:ext cx="2606040" cy="1463040"/>
          </a:xfrm>
          <a:prstGeom xmlns:a="http://schemas.openxmlformats.org/drawingml/2006/main" prst="roundRect">
            <a:avLst>
              <a:gd name="adj" fmla="val 5000"/>
            </a:avLst>
          </a:prstGeom>
          <a:solidFill xmlns:a="http://schemas.openxmlformats.org/drawingml/2006/main">
            <a:srgbClr val="FDEBD7"/>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9366DB23-02C6-475E-83B1-C2C4367FB145}"/>
              </a:ext>
            </a:extLst>
          </p:cNvPr>
          <p:cNvSpPr>
            <a:spLocks xmlns:a="http://schemas.openxmlformats.org/drawingml/2006/main" noGrp="1"/>
          </p:cNvSpPr>
          <p:nvPr/>
        </p:nvSpPr>
        <p:spPr>
          <a:xfrm xmlns:a="http://schemas.openxmlformats.org/drawingml/2006/main">
            <a:off x="3355848" y="1280160"/>
            <a:ext cx="2423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i="0"/>
            </a:defPPr>
          </a:lstStyle>
          <a:p xmlns:a="http://schemas.openxmlformats.org/drawingml/2006/main">
            <a:pPr marL="0" indent="0" algn="ctr">
              <a:buNone/>
              <a:defRPr sz="1950" i="0"/>
            </a:pPr>
            <a:r>
              <a:rPr sz="1950" b="1" i="0">
                <a:solidFill>
                  <a:srgbClr val="1B2A5C"/>
                </a:solidFill>
                <a:latin typeface="Nirmala UI"/>
                <a:ea typeface="Nirmala UI"/>
                <a:cs typeface="Nirmala UI"/>
              </a:rPr>
              <a:t>Unmeasured</a:t>
            </a:r>
            <a:endParaRPr sz="3000"/>
          </a:p>
        </p:txBody>
      </p:sp>
      <p:sp>
        <p:nvSpPr>
          <p:cNvPr id="13" name="Text 11">
            <a:extLst xmlns:a="http://schemas.openxmlformats.org/drawingml/2006/main">
              <a:ext uri="{FF2B5EF4-FFF2-40B4-BE49-F238E27FC236}">
                <a16:creationId xmlns:a16="http://schemas.microsoft.com/office/drawing/2014/main" id="{A1F096C2-8CD1-40C2-A856-0439860E072D}"/>
              </a:ext>
            </a:extLst>
          </p:cNvPr>
          <p:cNvSpPr>
            <a:spLocks xmlns:a="http://schemas.openxmlformats.org/drawingml/2006/main" noGrp="1"/>
          </p:cNvSpPr>
          <p:nvPr/>
        </p:nvSpPr>
        <p:spPr>
          <a:xfrm xmlns:a="http://schemas.openxmlformats.org/drawingml/2006/main">
            <a:off x="3355848" y="1938528"/>
            <a:ext cx="24231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1F2937"/>
                </a:solidFill>
                <a:latin typeface="Nirmala UI"/>
                <a:ea typeface="Nirmala UI"/>
                <a:cs typeface="Nirmala UI"/>
              </a:rPr>
              <a:t>Saving in cost / time</a:t>
            </a:r>
            <a:endParaRPr sz="1100"/>
          </a:p>
        </p:txBody>
      </p:sp>
      <p:sp>
        <p:nvSpPr>
          <p:cNvPr id="14" name="Text 12">
            <a:extLst xmlns:a="http://schemas.openxmlformats.org/drawingml/2006/main">
              <a:ext uri="{FF2B5EF4-FFF2-40B4-BE49-F238E27FC236}">
                <a16:creationId xmlns:a16="http://schemas.microsoft.com/office/drawing/2014/main" id="{6F0AA96D-7DD1-461C-B4AB-6EFD93346529}"/>
              </a:ext>
            </a:extLst>
          </p:cNvPr>
          <p:cNvSpPr>
            <a:spLocks xmlns:a="http://schemas.openxmlformats.org/drawingml/2006/main" noGrp="1"/>
          </p:cNvSpPr>
          <p:nvPr/>
        </p:nvSpPr>
        <p:spPr>
          <a:xfrm xmlns:a="http://schemas.openxmlformats.org/drawingml/2006/main">
            <a:off x="3355848" y="2212848"/>
            <a:ext cx="2423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900" i="0"/>
            </a:defPPr>
          </a:lstStyle>
          <a:p xmlns:a="http://schemas.openxmlformats.org/drawingml/2006/main">
            <a:pPr marL="0" indent="0" algn="ctr">
              <a:buNone/>
              <a:defRPr sz="900" i="0"/>
            </a:pPr>
            <a:r>
              <a:rPr sz="900" i="0">
                <a:solidFill>
                  <a:srgbClr val="6B7280"/>
                </a:solidFill>
                <a:latin typeface="Nirmala UI"/>
                <a:ea typeface="Nirmala UI"/>
                <a:cs typeface="Nirmala UI"/>
              </a:rPr>
              <a:t>Paired review comparison proposed</a:t>
            </a:r>
            <a:endParaRPr sz="900"/>
          </a:p>
        </p:txBody>
      </p:sp>
      <p:sp>
        <p:nvSpPr>
          <p:cNvPr id="15" name="Shape 13">
            <a:extLst xmlns:a="http://schemas.openxmlformats.org/drawingml/2006/main">
              <a:ext uri="{FF2B5EF4-FFF2-40B4-BE49-F238E27FC236}">
                <a16:creationId xmlns:a16="http://schemas.microsoft.com/office/drawing/2014/main" id="{0054ED45-106D-4EAD-A7F0-5D66759C27D6}"/>
              </a:ext>
            </a:extLst>
          </p:cNvPr>
          <p:cNvSpPr>
            <a:spLocks xmlns:a="http://schemas.openxmlformats.org/drawingml/2006/main" noGrp="1"/>
          </p:cNvSpPr>
          <p:nvPr/>
        </p:nvSpPr>
        <p:spPr>
          <a:xfrm xmlns:a="http://schemas.openxmlformats.org/drawingml/2006/main">
            <a:off x="6071616" y="1188720"/>
            <a:ext cx="2606040" cy="1463040"/>
          </a:xfrm>
          <a:prstGeom xmlns:a="http://schemas.openxmlformats.org/drawingml/2006/main" prst="roundRect">
            <a:avLst>
              <a:gd name="adj" fmla="val 5000"/>
            </a:avLst>
          </a:prstGeom>
          <a:solidFill xmlns:a="http://schemas.openxmlformats.org/drawingml/2006/main">
            <a:srgbClr val="FDEBD7"/>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5DF380F8-FA93-4681-947A-36130733B485}"/>
              </a:ext>
            </a:extLst>
          </p:cNvPr>
          <p:cNvSpPr>
            <a:spLocks xmlns:a="http://schemas.openxmlformats.org/drawingml/2006/main" noGrp="1"/>
          </p:cNvSpPr>
          <p:nvPr/>
        </p:nvSpPr>
        <p:spPr>
          <a:xfrm xmlns:a="http://schemas.openxmlformats.org/drawingml/2006/main">
            <a:off x="6163056" y="1280160"/>
            <a:ext cx="2423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i="0"/>
            </a:defPPr>
          </a:lstStyle>
          <a:p xmlns:a="http://schemas.openxmlformats.org/drawingml/2006/main">
            <a:pPr marL="0" indent="0" algn="ctr">
              <a:buNone/>
              <a:defRPr sz="1950" i="0"/>
            </a:pPr>
            <a:r>
              <a:rPr sz="1950" b="1" i="0">
                <a:solidFill>
                  <a:srgbClr val="1B2A5C"/>
                </a:solidFill>
                <a:latin typeface="Nirmala UI"/>
                <a:ea typeface="Nirmala UI"/>
                <a:cs typeface="Nirmala UI"/>
              </a:rPr>
              <a:t>Unmeasured</a:t>
            </a:r>
            <a:endParaRPr sz="3000"/>
          </a:p>
        </p:txBody>
      </p:sp>
      <p:sp>
        <p:nvSpPr>
          <p:cNvPr id="17" name="Text 15">
            <a:extLst xmlns:a="http://schemas.openxmlformats.org/drawingml/2006/main">
              <a:ext uri="{FF2B5EF4-FFF2-40B4-BE49-F238E27FC236}">
                <a16:creationId xmlns:a16="http://schemas.microsoft.com/office/drawing/2014/main" id="{312E92E7-986D-4D0E-A5A3-C25DB0A66650}"/>
              </a:ext>
            </a:extLst>
          </p:cNvPr>
          <p:cNvSpPr>
            <a:spLocks xmlns:a="http://schemas.openxmlformats.org/drawingml/2006/main" noGrp="1"/>
          </p:cNvSpPr>
          <p:nvPr/>
        </p:nvSpPr>
        <p:spPr>
          <a:xfrm xmlns:a="http://schemas.openxmlformats.org/drawingml/2006/main">
            <a:off x="6163056" y="1938528"/>
            <a:ext cx="24231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1F2937"/>
                </a:solidFill>
                <a:latin typeface="Nirmala UI"/>
                <a:ea typeface="Nirmala UI"/>
                <a:cs typeface="Nirmala UI"/>
              </a:rPr>
              <a:t>Jobs or livelihoods</a:t>
            </a:r>
            <a:endParaRPr sz="1100"/>
          </a:p>
        </p:txBody>
      </p:sp>
      <p:sp>
        <p:nvSpPr>
          <p:cNvPr id="18" name="Text 16">
            <a:extLst xmlns:a="http://schemas.openxmlformats.org/drawingml/2006/main">
              <a:ext uri="{FF2B5EF4-FFF2-40B4-BE49-F238E27FC236}">
                <a16:creationId xmlns:a16="http://schemas.microsoft.com/office/drawing/2014/main" id="{E1AEB63D-A872-469B-B76B-886871E8223E}"/>
              </a:ext>
            </a:extLst>
          </p:cNvPr>
          <p:cNvSpPr>
            <a:spLocks xmlns:a="http://schemas.openxmlformats.org/drawingml/2006/main" noGrp="1"/>
          </p:cNvSpPr>
          <p:nvPr/>
        </p:nvSpPr>
        <p:spPr>
          <a:xfrm xmlns:a="http://schemas.openxmlformats.org/drawingml/2006/main">
            <a:off x="6163056" y="2212848"/>
            <a:ext cx="2423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900" i="0"/>
            </a:defPPr>
          </a:lstStyle>
          <a:p xmlns:a="http://schemas.openxmlformats.org/drawingml/2006/main">
            <a:pPr marL="0" indent="0" algn="ctr">
              <a:buNone/>
              <a:defRPr sz="900" i="0"/>
            </a:pPr>
            <a:r>
              <a:rPr sz="900" i="0">
                <a:solidFill>
                  <a:srgbClr val="6B7280"/>
                </a:solidFill>
                <a:latin typeface="Nirmala UI"/>
                <a:ea typeface="Nirmala UI"/>
                <a:cs typeface="Nirmala UI"/>
              </a:rPr>
              <a:t>Employment-hub distance is a demo proxy</a:t>
            </a:r>
            <a:endParaRPr sz="900"/>
          </a:p>
        </p:txBody>
      </p:sp>
      <p:sp>
        <p:nvSpPr>
          <p:cNvPr id="19" name="Shape 17">
            <a:extLst xmlns:a="http://schemas.openxmlformats.org/drawingml/2006/main">
              <a:ext uri="{FF2B5EF4-FFF2-40B4-BE49-F238E27FC236}">
                <a16:creationId xmlns:a16="http://schemas.microsoft.com/office/drawing/2014/main" id="{F1C5E8ED-FE66-437F-8E13-72177497DEF3}"/>
              </a:ext>
            </a:extLst>
          </p:cNvPr>
          <p:cNvSpPr>
            <a:spLocks xmlns:a="http://schemas.openxmlformats.org/drawingml/2006/main" noGrp="1"/>
          </p:cNvSpPr>
          <p:nvPr/>
        </p:nvSpPr>
        <p:spPr>
          <a:xfrm xmlns:a="http://schemas.openxmlformats.org/drawingml/2006/main">
            <a:off x="457200" y="2834640"/>
            <a:ext cx="2606040" cy="1783080"/>
          </a:xfrm>
          <a:prstGeom xmlns:a="http://schemas.openxmlformats.org/drawingml/2006/main" prst="roundRect">
            <a:avLst>
              <a:gd name="adj" fmla="val 4103"/>
            </a:avLst>
          </a:prstGeom>
          <a:solidFill xmlns:a="http://schemas.openxmlformats.org/drawingml/2006/main">
            <a:srgbClr val="FFFFFF"/>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23E1805D-614E-48C4-8CEC-FB789D4AD47E}"/>
              </a:ext>
            </a:extLst>
          </p:cNvPr>
          <p:cNvSpPr>
            <a:spLocks xmlns:a="http://schemas.openxmlformats.org/drawingml/2006/main" noGrp="1"/>
          </p:cNvSpPr>
          <p:nvPr/>
        </p:nvSpPr>
        <p:spPr>
          <a:xfrm xmlns:a="http://schemas.openxmlformats.org/drawingml/2006/main">
            <a:off x="594360" y="2944368"/>
            <a:ext cx="23317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Social impact</a:t>
            </a:r>
            <a:endParaRPr sz="1200"/>
          </a:p>
        </p:txBody>
      </p:sp>
      <p:sp>
        <p:nvSpPr>
          <p:cNvPr id="21" name="Text 19">
            <a:extLst xmlns:a="http://schemas.openxmlformats.org/drawingml/2006/main">
              <a:ext uri="{FF2B5EF4-FFF2-40B4-BE49-F238E27FC236}">
                <a16:creationId xmlns:a16="http://schemas.microsoft.com/office/drawing/2014/main" id="{DF994120-788F-492E-B941-13442CB2600D}"/>
              </a:ext>
            </a:extLst>
          </p:cNvPr>
          <p:cNvSpPr>
            <a:spLocks xmlns:a="http://schemas.openxmlformats.org/drawingml/2006/main" noGrp="1"/>
          </p:cNvSpPr>
          <p:nvPr/>
        </p:nvSpPr>
        <p:spPr>
          <a:xfrm xmlns:a="http://schemas.openxmlformats.org/drawingml/2006/main">
            <a:off x="594360" y="3218688"/>
            <a:ext cx="233172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0">
                <a:solidFill>
                  <a:srgbClr val="334155"/>
                </a:solidFill>
              </a:defRPr>
            </a:defPPr>
          </a:lstStyle>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Test critical evidence omissions, review effort and repeat service observations. Include voluntary assisted feedback and disability/access barriers.</a:t>
            </a:r>
            <a:endParaRPr sz="1000"/>
          </a:p>
        </p:txBody>
      </p:sp>
      <p:sp>
        <p:nvSpPr>
          <p:cNvPr id="22" name="Shape 20">
            <a:extLst xmlns:a="http://schemas.openxmlformats.org/drawingml/2006/main">
              <a:ext uri="{FF2B5EF4-FFF2-40B4-BE49-F238E27FC236}">
                <a16:creationId xmlns:a16="http://schemas.microsoft.com/office/drawing/2014/main" id="{EF5B4D5C-B1B0-46B1-978B-940C41E6D091}"/>
              </a:ext>
            </a:extLst>
          </p:cNvPr>
          <p:cNvSpPr>
            <a:spLocks xmlns:a="http://schemas.openxmlformats.org/drawingml/2006/main" noGrp="1"/>
          </p:cNvSpPr>
          <p:nvPr/>
        </p:nvSpPr>
        <p:spPr>
          <a:xfrm xmlns:a="http://schemas.openxmlformats.org/drawingml/2006/main">
            <a:off x="3264408" y="2834640"/>
            <a:ext cx="2606040" cy="1783080"/>
          </a:xfrm>
          <a:prstGeom xmlns:a="http://schemas.openxmlformats.org/drawingml/2006/main" prst="roundRect">
            <a:avLst>
              <a:gd name="adj" fmla="val 4103"/>
            </a:avLst>
          </a:prstGeom>
          <a:solidFill xmlns:a="http://schemas.openxmlformats.org/drawingml/2006/main">
            <a:srgbClr val="FFFFFF"/>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494A0F8B-6315-4515-9D73-228094495B14}"/>
              </a:ext>
            </a:extLst>
          </p:cNvPr>
          <p:cNvSpPr>
            <a:spLocks xmlns:a="http://schemas.openxmlformats.org/drawingml/2006/main" noGrp="1"/>
          </p:cNvSpPr>
          <p:nvPr/>
        </p:nvSpPr>
        <p:spPr>
          <a:xfrm xmlns:a="http://schemas.openxmlformats.org/drawingml/2006/main">
            <a:off x="3401568" y="2944368"/>
            <a:ext cx="23317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Sustainability</a:t>
            </a:r>
            <a:endParaRPr sz="1200"/>
          </a:p>
        </p:txBody>
      </p:sp>
      <p:sp>
        <p:nvSpPr>
          <p:cNvPr id="24" name="Text 22">
            <a:extLst xmlns:a="http://schemas.openxmlformats.org/drawingml/2006/main">
              <a:ext uri="{FF2B5EF4-FFF2-40B4-BE49-F238E27FC236}">
                <a16:creationId xmlns:a16="http://schemas.microsoft.com/office/drawing/2014/main" id="{AC09B6B9-AB1E-4985-A79F-784AF566C4FF}"/>
              </a:ext>
            </a:extLst>
          </p:cNvPr>
          <p:cNvSpPr>
            <a:spLocks xmlns:a="http://schemas.openxmlformats.org/drawingml/2006/main" noGrp="1"/>
          </p:cNvSpPr>
          <p:nvPr/>
        </p:nvSpPr>
        <p:spPr>
          <a:xfrm xmlns:a="http://schemas.openxmlformats.org/drawingml/2006/main">
            <a:off x="3401568" y="3218688"/>
            <a:ext cx="233172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0">
                <a:solidFill>
                  <a:srgbClr val="334155"/>
                </a:solidFill>
              </a:defRPr>
            </a:defPPr>
          </a:lstStyle>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Illustrative continuation: INR 162,360 / year. A recurring payer and maintenance owner remain unconfirmed.</a:t>
            </a:r>
            <a:endParaRPr sz="1000"/>
          </a:p>
        </p:txBody>
      </p:sp>
      <p:sp>
        <p:nvSpPr>
          <p:cNvPr id="25" name="Shape 23">
            <a:extLst xmlns:a="http://schemas.openxmlformats.org/drawingml/2006/main">
              <a:ext uri="{FF2B5EF4-FFF2-40B4-BE49-F238E27FC236}">
                <a16:creationId xmlns:a16="http://schemas.microsoft.com/office/drawing/2014/main" id="{8C35DE2E-3DE2-455C-AF23-8E54726FBDD5}"/>
              </a:ext>
            </a:extLst>
          </p:cNvPr>
          <p:cNvSpPr>
            <a:spLocks xmlns:a="http://schemas.openxmlformats.org/drawingml/2006/main" noGrp="1"/>
          </p:cNvSpPr>
          <p:nvPr/>
        </p:nvSpPr>
        <p:spPr>
          <a:xfrm xmlns:a="http://schemas.openxmlformats.org/drawingml/2006/main">
            <a:off x="6071616" y="2834640"/>
            <a:ext cx="2606040" cy="1783080"/>
          </a:xfrm>
          <a:prstGeom xmlns:a="http://schemas.openxmlformats.org/drawingml/2006/main" prst="roundRect">
            <a:avLst>
              <a:gd name="adj" fmla="val 4103"/>
            </a:avLst>
          </a:prstGeom>
          <a:solidFill xmlns:a="http://schemas.openxmlformats.org/drawingml/2006/main">
            <a:srgbClr val="FFFFFF"/>
          </a:solidFill>
          <a:ln xmlns:a="http://schemas.openxmlformats.org/drawingml/2006/main" w="9525">
            <a:solidFill>
              <a:srgbClr val="D9DEEA"/>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B49219B7-4B81-4D60-B912-717770A7B44A}"/>
              </a:ext>
            </a:extLst>
          </p:cNvPr>
          <p:cNvSpPr>
            <a:spLocks xmlns:a="http://schemas.openxmlformats.org/drawingml/2006/main" noGrp="1"/>
          </p:cNvSpPr>
          <p:nvPr/>
        </p:nvSpPr>
        <p:spPr>
          <a:xfrm xmlns:a="http://schemas.openxmlformats.org/drawingml/2006/main">
            <a:off x="6208776" y="2944368"/>
            <a:ext cx="23317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B2A5C"/>
                </a:solidFill>
                <a:latin typeface="Nirmala UI"/>
                <a:ea typeface="Nirmala UI"/>
                <a:cs typeface="Nirmala UI"/>
              </a:rPr>
              <a:t>Scale-up plan</a:t>
            </a:r>
            <a:endParaRPr sz="1200"/>
          </a:p>
        </p:txBody>
      </p:sp>
      <p:sp>
        <p:nvSpPr>
          <p:cNvPr id="27" name="Text 25">
            <a:extLst xmlns:a="http://schemas.openxmlformats.org/drawingml/2006/main">
              <a:ext uri="{FF2B5EF4-FFF2-40B4-BE49-F238E27FC236}">
                <a16:creationId xmlns:a16="http://schemas.microsoft.com/office/drawing/2014/main" id="{3E238231-F4D5-4D32-9049-6325D65CED90}"/>
              </a:ext>
            </a:extLst>
          </p:cNvPr>
          <p:cNvSpPr>
            <a:spLocks xmlns:a="http://schemas.openxmlformats.org/drawingml/2006/main" noGrp="1"/>
          </p:cNvSpPr>
          <p:nvPr/>
        </p:nvSpPr>
        <p:spPr>
          <a:xfrm xmlns:a="http://schemas.openxmlformats.org/drawingml/2006/main">
            <a:off x="6208776" y="3218688"/>
            <a:ext cx="233172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0">
                <a:solidFill>
                  <a:srgbClr val="334155"/>
                </a:solidFill>
              </a:defRPr>
            </a:defPPr>
          </a:lstStyle>
          <a:p xmlns:a="http://schemas.openxmlformats.org/drawingml/2006/main">
            <a:pPr marL="0" indent="0">
              <a:buNone/>
              <a:defRPr i="0">
                <a:solidFill>
                  <a:srgbClr val="334155"/>
                </a:solidFill>
              </a:defRPr>
            </a:pPr>
            <a:r>
              <a:rPr sz="1000" i="0">
                <a:solidFill>
                  <a:srgbClr val="334155"/>
                </a:solidFill>
                <a:latin typeface="Nirmala UI"/>
                <a:ea typeface="Nirmala UI"/>
                <a:cs typeface="Nirmala UI"/>
              </a:rPr>
              <a:t>Validate one task, then a second ward. Expansion needs permitted data, authenticated roles, approved integration and operating finance.</a:t>
            </a:r>
            <a:endParaRPr sz="1000"/>
          </a:p>
        </p:txBody>
      </p:sp>
    </p:spTree>
    <p:extLst>
      <p:ext uri="{BB962C8B-B14F-4D97-AF65-F5344CB8AC3E}">
        <p14:creationId xmlns:p14="http://schemas.microsoft.com/office/powerpoint/2010/main" val="805048866"/>
      </p:ext>
    </p:extLst>
  </p:cSld>
</p:sld>
</file>

<file path=ppt/slides/slide6.xml><?xml version="1.0" encoding="utf-8"?>
<p:sld xmlns:p="http://schemas.openxmlformats.org/presentationml/2006/main">
  <p:cSld>
    <p:bg>
      <p:bgPr>
        <a:solidFill xmlns:a="http://schemas.openxmlformats.org/drawingml/2006/main">
          <a:srgbClr val="1B2A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1A05F99-97FE-4846-8D1E-A65DA46D6C26}"/>
              </a:ext>
            </a:extLst>
          </p:cNvPr>
          <p:cNvSpPr>
            <a:spLocks xmlns:a="http://schemas.openxmlformats.org/drawingml/2006/main" noGrp="1"/>
          </p:cNvSpPr>
          <p:nvPr/>
        </p:nvSpPr>
        <p:spPr>
          <a:xfrm xmlns:a="http://schemas.openxmlformats.org/drawingml/2006/main">
            <a:off x="457200" y="347472"/>
            <a:ext cx="502920" cy="502920"/>
          </a:xfrm>
          <a:prstGeom xmlns:a="http://schemas.openxmlformats.org/drawingml/2006/main" prst="ellipse">
            <a:avLst/>
          </a:prstGeom>
          <a:solidFill xmlns:a="http://schemas.openxmlformats.org/drawingml/2006/main">
            <a:srgbClr val="F28C28"/>
          </a:solidFill>
          <a:ln xmlns:a="http://schemas.openxmlformats.org/drawingml/2006/main" w="1270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E6991567-9B30-4EA6-BB58-1EFD771A1653}"/>
              </a:ext>
            </a:extLst>
          </p:cNvPr>
          <p:cNvSpPr>
            <a:spLocks xmlns:a="http://schemas.openxmlformats.org/drawingml/2006/main" noGrp="1"/>
          </p:cNvSpPr>
          <p:nvPr/>
        </p:nvSpPr>
        <p:spPr>
          <a:xfrm xmlns:a="http://schemas.openxmlformats.org/drawingml/2006/main">
            <a:off x="457200" y="347472"/>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Nirmala UI"/>
                <a:ea typeface="Nirmala UI"/>
                <a:cs typeface="Nirmala UI"/>
              </a:rPr>
              <a:t>6</a:t>
            </a:r>
            <a:endParaRPr sz="1540"/>
          </a:p>
        </p:txBody>
      </p:sp>
      <p:sp>
        <p:nvSpPr>
          <p:cNvPr id="4" name="Text 2">
            <a:extLst xmlns:a="http://schemas.openxmlformats.org/drawingml/2006/main">
              <a:ext uri="{FF2B5EF4-FFF2-40B4-BE49-F238E27FC236}">
                <a16:creationId xmlns:a16="http://schemas.microsoft.com/office/drawing/2014/main" id="{AD2C6FBF-49EE-46E1-AFF3-7FDD0E5A1D42}"/>
              </a:ext>
            </a:extLst>
          </p:cNvPr>
          <p:cNvSpPr>
            <a:spLocks xmlns:a="http://schemas.openxmlformats.org/drawingml/2006/main" noGrp="1"/>
          </p:cNvSpPr>
          <p:nvPr/>
        </p:nvSpPr>
        <p:spPr>
          <a:xfrm xmlns:a="http://schemas.openxmlformats.org/drawingml/2006/main">
            <a:off x="1097280" y="301752"/>
            <a:ext cx="6858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FFFFFF"/>
                </a:solidFill>
                <a:latin typeface="Nirmala UI"/>
                <a:ea typeface="Nirmala UI"/>
                <a:cs typeface="Nirmala UI"/>
              </a:rPr>
              <a:t>Team/Individual &amp; Support Required</a:t>
            </a:r>
            <a:endParaRPr sz="2600"/>
          </a:p>
        </p:txBody>
      </p:sp>
      <p:sp>
        <p:nvSpPr>
          <p:cNvPr id="5" name="Text 3">
            <a:extLst xmlns:a="http://schemas.openxmlformats.org/drawingml/2006/main">
              <a:ext uri="{FF2B5EF4-FFF2-40B4-BE49-F238E27FC236}">
                <a16:creationId xmlns:a16="http://schemas.microsoft.com/office/drawing/2014/main" id="{EF9213C1-8B39-4536-BA82-5A83D536EA67}"/>
              </a:ext>
            </a:extLst>
          </p:cNvPr>
          <p:cNvSpPr>
            <a:spLocks xmlns:a="http://schemas.openxmlformats.org/drawingml/2006/main" noGrp="1"/>
          </p:cNvSpPr>
          <p:nvPr/>
        </p:nvSpPr>
        <p:spPr>
          <a:xfrm xmlns:a="http://schemas.openxmlformats.org/drawingml/2006/main">
            <a:off x="1097280" y="713232"/>
            <a:ext cx="7589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1"/>
            </a:defPPr>
          </a:lstStyle>
          <a:p xmlns:a="http://schemas.openxmlformats.org/drawingml/2006/main">
            <a:pPr marL="0" indent="0">
              <a:buNone/>
              <a:defRPr i="1"/>
            </a:pPr>
            <a:r>
              <a:rPr sz="1100" i="1">
                <a:solidFill>
                  <a:srgbClr val="C9D2EC"/>
                </a:solidFill>
                <a:latin typeface="Nirmala UI"/>
                <a:ea typeface="Nirmala UI"/>
                <a:cs typeface="Nirmala UI"/>
              </a:rPr>
              <a:t>Individual participant. Personal and eligibility details will be completed privately.</a:t>
            </a:r>
            <a:endParaRPr sz="1100"/>
          </a:p>
        </p:txBody>
      </p:sp>
      <p:sp>
        <p:nvSpPr>
          <p:cNvPr id="6" name="Shape 4">
            <a:extLst xmlns:a="http://schemas.openxmlformats.org/drawingml/2006/main">
              <a:ext uri="{FF2B5EF4-FFF2-40B4-BE49-F238E27FC236}">
                <a16:creationId xmlns:a16="http://schemas.microsoft.com/office/drawing/2014/main" id="{120540EF-DA62-4CC8-945F-6B97423022CD}"/>
              </a:ext>
            </a:extLst>
          </p:cNvPr>
          <p:cNvSpPr>
            <a:spLocks xmlns:a="http://schemas.openxmlformats.org/drawingml/2006/main" noGrp="1"/>
          </p:cNvSpPr>
          <p:nvPr/>
        </p:nvSpPr>
        <p:spPr>
          <a:xfrm xmlns:a="http://schemas.openxmlformats.org/drawingml/2006/main">
            <a:off x="457200" y="1188720"/>
            <a:ext cx="4389120" cy="2400300"/>
          </a:xfrm>
          <a:prstGeom xmlns:a="http://schemas.openxmlformats.org/drawingml/2006/main" prst="roundRect">
            <a:avLst>
              <a:gd name="adj" fmla="val 6400"/>
            </a:avLst>
          </a:prstGeom>
          <a:solidFill xmlns:a="http://schemas.openxmlformats.org/drawingml/2006/main">
            <a:srgbClr val="253870"/>
          </a:solidFill>
          <a:ln xmlns:a="http://schemas.openxmlformats.org/drawingml/2006/main" w="12700">
            <a:solidFill>
              <a:srgbClr val="253870"/>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506F2CD1-FD61-4483-9DF5-8A161FE71D27}"/>
              </a:ext>
            </a:extLst>
          </p:cNvPr>
          <p:cNvSpPr>
            <a:spLocks xmlns:a="http://schemas.openxmlformats.org/drawingml/2006/main" noGrp="1"/>
          </p:cNvSpPr>
          <p:nvPr/>
        </p:nvSpPr>
        <p:spPr>
          <a:xfrm xmlns:a="http://schemas.openxmlformats.org/drawingml/2006/main">
            <a:off x="609600" y="1428750"/>
            <a:ext cx="40005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575" i="0"/>
            </a:defPPr>
          </a:lstStyle>
          <a:p xmlns:a="http://schemas.openxmlformats.org/drawingml/2006/main">
            <a:pPr marL="0" indent="0">
              <a:buNone/>
              <a:defRPr sz="1575" i="0"/>
            </a:pPr>
            <a:r>
              <a:rPr sz="1575" b="1" i="0">
                <a:solidFill>
                  <a:srgbClr val="FFFFFF"/>
                </a:solidFill>
                <a:latin typeface="Nirmala UI"/>
                <a:ea typeface="Nirmala UI"/>
                <a:cs typeface="Nirmala UI"/>
              </a:rPr>
              <a:t>Individual applicant</a:t>
            </a:r>
            <a:endParaRPr sz="1050"/>
          </a:p>
        </p:txBody>
      </p:sp>
      <p:sp>
        <p:nvSpPr>
          <p:cNvPr id="10" name="Text 8">
            <a:extLst xmlns:a="http://schemas.openxmlformats.org/drawingml/2006/main">
              <a:ext uri="{FF2B5EF4-FFF2-40B4-BE49-F238E27FC236}">
                <a16:creationId xmlns:a16="http://schemas.microsoft.com/office/drawing/2014/main" id="{3F008C26-AB04-4572-B6B7-6617AFE3A514}"/>
              </a:ext>
            </a:extLst>
          </p:cNvPr>
          <p:cNvSpPr>
            <a:spLocks xmlns:a="http://schemas.openxmlformats.org/drawingml/2006/main" noGrp="1"/>
          </p:cNvSpPr>
          <p:nvPr/>
        </p:nvSpPr>
        <p:spPr>
          <a:xfrm xmlns:a="http://schemas.openxmlformats.org/drawingml/2006/main">
            <a:off x="609600" y="1981200"/>
            <a:ext cx="4000500"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75" i="0"/>
            </a:defPPr>
          </a:lstStyle>
          <a:p xmlns:a="http://schemas.openxmlformats.org/drawingml/2006/main">
            <a:pPr marL="0" indent="0">
              <a:buNone/>
              <a:defRPr sz="1275" i="0"/>
            </a:pPr>
            <a:r>
              <a:rPr sz="1275" i="0">
                <a:solidFill>
                  <a:srgbClr val="F28C28"/>
                </a:solidFill>
                <a:latin typeface="Nirmala UI"/>
                <a:ea typeface="Nirmala UI"/>
                <a:cs typeface="Nirmala UI"/>
              </a:rPr>
              <a:t>Working research-based prototype</a:t>
            </a:r>
            <a:endParaRPr sz="900"/>
          </a:p>
        </p:txBody>
      </p:sp>
      <p:sp>
        <p:nvSpPr>
          <p:cNvPr id="11" name="Text 9">
            <a:extLst xmlns:a="http://schemas.openxmlformats.org/drawingml/2006/main">
              <a:ext uri="{FF2B5EF4-FFF2-40B4-BE49-F238E27FC236}">
                <a16:creationId xmlns:a16="http://schemas.microsoft.com/office/drawing/2014/main" id="{CC71F84F-4D73-415F-A58A-408E633325C8}"/>
              </a:ext>
            </a:extLst>
          </p:cNvPr>
          <p:cNvSpPr>
            <a:spLocks xmlns:a="http://schemas.openxmlformats.org/drawingml/2006/main" noGrp="1"/>
          </p:cNvSpPr>
          <p:nvPr/>
        </p:nvSpPr>
        <p:spPr>
          <a:xfrm xmlns:a="http://schemas.openxmlformats.org/drawingml/2006/main">
            <a:off x="609600" y="2514600"/>
            <a:ext cx="400050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i="0">
                <a:solidFill>
                  <a:srgbClr val="CDD6F4"/>
                </a:solidFill>
              </a:defRPr>
            </a:defPPr>
          </a:lstStyle>
          <a:p xmlns:a="http://schemas.openxmlformats.org/drawingml/2006/main">
            <a:pPr marL="0" indent="0">
              <a:buNone/>
              <a:defRPr sz="1200" i="0">
                <a:solidFill>
                  <a:srgbClr val="CDD6F4"/>
                </a:solidFill>
              </a:defRPr>
            </a:pPr>
            <a:r>
              <a:rPr sz="1200" i="0">
                <a:solidFill>
                  <a:srgbClr val="CDD6F4"/>
                </a:solidFill>
                <a:latin typeface="Nirmala UI"/>
                <a:ea typeface="Nirmala UI"/>
                <a:cs typeface="Nirmala UI"/>
              </a:rPr>
              <a:t>Personal details omitted at applicant request</a:t>
            </a:r>
            <a:endParaRPr sz="850"/>
          </a:p>
          <a:p xmlns:a="http://schemas.openxmlformats.org/drawingml/2006/main">
            <a:pPr marL="0" indent="0">
              <a:buNone/>
              <a:defRPr sz="1200" i="0">
                <a:solidFill>
                  <a:srgbClr val="CDD6F4"/>
                </a:solidFill>
              </a:defRPr>
            </a:pPr>
            <a:r>
              <a:rPr sz="1200" i="0">
                <a:solidFill>
                  <a:srgbClr val="CDD6F4"/>
                </a:solidFill>
                <a:latin typeface="Nirmala UI"/>
                <a:ea typeface="Nirmala UI"/>
                <a:cs typeface="Nirmala UI"/>
              </a:rPr>
              <a:t>No operational users or agency endorsement</a:t>
            </a:r>
          </a:p>
        </p:txBody>
      </p:sp>
      <p:sp>
        <p:nvSpPr>
          <p:cNvPr id="30" name="Text 28">
            <a:extLst xmlns:a="http://schemas.openxmlformats.org/drawingml/2006/main">
              <a:ext uri="{FF2B5EF4-FFF2-40B4-BE49-F238E27FC236}">
                <a16:creationId xmlns:a16="http://schemas.microsoft.com/office/drawing/2014/main" id="{C8079E46-7F47-43A1-84D8-623BF463D17B}"/>
              </a:ext>
            </a:extLst>
          </p:cNvPr>
          <p:cNvSpPr>
            <a:spLocks xmlns:a="http://schemas.openxmlformats.org/drawingml/2006/main" noGrp="1"/>
          </p:cNvSpPr>
          <p:nvPr/>
        </p:nvSpPr>
        <p:spPr>
          <a:xfrm xmlns:a="http://schemas.openxmlformats.org/drawingml/2006/main">
            <a:off x="457200" y="3840480"/>
            <a:ext cx="4389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125" i="0"/>
            </a:defPPr>
          </a:lstStyle>
          <a:p xmlns:a="http://schemas.openxmlformats.org/drawingml/2006/main">
            <a:pPr marL="0" indent="0">
              <a:buNone/>
              <a:defRPr sz="1125" i="0"/>
            </a:pPr>
            <a:r>
              <a:rPr sz="1125" i="0">
                <a:solidFill>
                  <a:srgbClr val="C9D2EC"/>
                </a:solidFill>
                <a:latin typeface="Nirmala UI"/>
                <a:ea typeface="Nirmala UI"/>
                <a:cs typeface="Nirmala UI"/>
              </a:rPr>
              <a:t>Mentor and independent field partner: unconfirmed</a:t>
            </a:r>
            <a:endParaRPr sz="950"/>
          </a:p>
        </p:txBody>
      </p:sp>
      <p:sp>
        <p:nvSpPr>
          <p:cNvPr id="31" name="Shape 29">
            <a:extLst xmlns:a="http://schemas.openxmlformats.org/drawingml/2006/main">
              <a:ext uri="{FF2B5EF4-FFF2-40B4-BE49-F238E27FC236}">
                <a16:creationId xmlns:a16="http://schemas.microsoft.com/office/drawing/2014/main" id="{002675F9-6DA7-4FF6-9761-DE00E1040216}"/>
              </a:ext>
            </a:extLst>
          </p:cNvPr>
          <p:cNvSpPr>
            <a:spLocks xmlns:a="http://schemas.openxmlformats.org/drawingml/2006/main" noGrp="1"/>
          </p:cNvSpPr>
          <p:nvPr/>
        </p:nvSpPr>
        <p:spPr>
          <a:xfrm xmlns:a="http://schemas.openxmlformats.org/drawingml/2006/main">
            <a:off x="5120640" y="1188720"/>
            <a:ext cx="3566160" cy="3383280"/>
          </a:xfrm>
          <a:prstGeom xmlns:a="http://schemas.openxmlformats.org/drawingml/2006/main" prst="roundRect">
            <a:avLst>
              <a:gd name="adj" fmla="val 2703"/>
            </a:avLst>
          </a:prstGeom>
          <a:solidFill xmlns:a="http://schemas.openxmlformats.org/drawingml/2006/main">
            <a:srgbClr val="FFFFFF"/>
          </a:solidFill>
          <a:ln xmlns:a="http://schemas.openxmlformats.org/drawingml/2006/main" w="1270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9298C80E-606B-41A4-9C48-5210C51E0C07}"/>
              </a:ext>
            </a:extLst>
          </p:cNvPr>
          <p:cNvSpPr>
            <a:spLocks xmlns:a="http://schemas.openxmlformats.org/drawingml/2006/main" noGrp="1"/>
          </p:cNvSpPr>
          <p:nvPr/>
        </p:nvSpPr>
        <p:spPr>
          <a:xfrm xmlns:a="http://schemas.openxmlformats.org/drawingml/2006/main">
            <a:off x="5303520" y="1325880"/>
            <a:ext cx="3200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B2A5C"/>
                </a:solidFill>
                <a:latin typeface="Nirmala UI"/>
                <a:ea typeface="Nirmala UI"/>
                <a:cs typeface="Nirmala UI"/>
              </a:rPr>
              <a:t>Support we are seeking</a:t>
            </a:r>
            <a:endParaRPr sz="1300"/>
          </a:p>
        </p:txBody>
      </p:sp>
      <p:sp>
        <p:nvSpPr>
          <p:cNvPr id="33" name="Shape 31">
            <a:extLst xmlns:a="http://schemas.openxmlformats.org/drawingml/2006/main">
              <a:ext uri="{FF2B5EF4-FFF2-40B4-BE49-F238E27FC236}">
                <a16:creationId xmlns:a16="http://schemas.microsoft.com/office/drawing/2014/main" id="{0BCE18DD-9F90-424E-970F-C44B91026433}"/>
              </a:ext>
            </a:extLst>
          </p:cNvPr>
          <p:cNvSpPr>
            <a:spLocks xmlns:a="http://schemas.openxmlformats.org/drawingml/2006/main" noGrp="1"/>
          </p:cNvSpPr>
          <p:nvPr/>
        </p:nvSpPr>
        <p:spPr>
          <a:xfrm xmlns:a="http://schemas.openxmlformats.org/drawingml/2006/main">
            <a:off x="5349240" y="1764792"/>
            <a:ext cx="182880" cy="182880"/>
          </a:xfrm>
          <a:prstGeom xmlns:a="http://schemas.openxmlformats.org/drawingml/2006/main" prst="rect">
            <a:avLst/>
          </a:prstGeom>
          <a:solidFill xmlns:a="http://schemas.openxmlformats.org/drawingml/2006/main">
            <a:srgbClr val="FFFFFF"/>
          </a:solidFill>
          <a:ln xmlns:a="http://schemas.openxmlformats.org/drawingml/2006/main" w="15875">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ADDE8DB5-7B5D-449B-A76A-AA4C8A841E09}"/>
              </a:ext>
            </a:extLst>
          </p:cNvPr>
          <p:cNvSpPr>
            <a:spLocks xmlns:a="http://schemas.openxmlformats.org/drawingml/2006/main" noGrp="1"/>
          </p:cNvSpPr>
          <p:nvPr/>
        </p:nvSpPr>
        <p:spPr>
          <a:xfrm xmlns:a="http://schemas.openxmlformats.org/drawingml/2006/main">
            <a:off x="5669280" y="1737360"/>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1F2937"/>
                </a:solidFill>
                <a:latin typeface="Nirmala UI"/>
                <a:ea typeface="Nirmala UI"/>
                <a:cs typeface="Nirmala UI"/>
              </a:rPr>
              <a:t>Mentorship &amp; technical guidance</a:t>
            </a:r>
            <a:endParaRPr sz="1050"/>
          </a:p>
        </p:txBody>
      </p:sp>
      <p:sp>
        <p:nvSpPr>
          <p:cNvPr id="35" name="Shape 33">
            <a:extLst xmlns:a="http://schemas.openxmlformats.org/drawingml/2006/main">
              <a:ext uri="{FF2B5EF4-FFF2-40B4-BE49-F238E27FC236}">
                <a16:creationId xmlns:a16="http://schemas.microsoft.com/office/drawing/2014/main" id="{0012B5BF-1BF3-47B5-8B6F-AA246A547FB4}"/>
              </a:ext>
            </a:extLst>
          </p:cNvPr>
          <p:cNvSpPr>
            <a:spLocks xmlns:a="http://schemas.openxmlformats.org/drawingml/2006/main" noGrp="1"/>
          </p:cNvSpPr>
          <p:nvPr/>
        </p:nvSpPr>
        <p:spPr>
          <a:xfrm xmlns:a="http://schemas.openxmlformats.org/drawingml/2006/main">
            <a:off x="5349240" y="2148840"/>
            <a:ext cx="182880" cy="182880"/>
          </a:xfrm>
          <a:prstGeom xmlns:a="http://schemas.openxmlformats.org/drawingml/2006/main" prst="rect">
            <a:avLst/>
          </a:prstGeom>
          <a:solidFill xmlns:a="http://schemas.openxmlformats.org/drawingml/2006/main">
            <a:srgbClr val="FFFFFF"/>
          </a:solidFill>
          <a:ln xmlns:a="http://schemas.openxmlformats.org/drawingml/2006/main" w="15875">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047B1179-7D55-4E00-A8C3-2A5AA802AED7}"/>
              </a:ext>
            </a:extLst>
          </p:cNvPr>
          <p:cNvSpPr>
            <a:spLocks xmlns:a="http://schemas.openxmlformats.org/drawingml/2006/main" noGrp="1"/>
          </p:cNvSpPr>
          <p:nvPr/>
        </p:nvSpPr>
        <p:spPr>
          <a:xfrm xmlns:a="http://schemas.openxmlformats.org/drawingml/2006/main">
            <a:off x="5669280" y="212140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1F2937"/>
                </a:solidFill>
                <a:latin typeface="Nirmala UI"/>
                <a:ea typeface="Nirmala UI"/>
                <a:cs typeface="Nirmala UI"/>
              </a:rPr>
              <a:t>Pilot with a government department</a:t>
            </a:r>
            <a:endParaRPr sz="1050"/>
          </a:p>
        </p:txBody>
      </p:sp>
      <p:sp>
        <p:nvSpPr>
          <p:cNvPr id="37" name="Shape 35">
            <a:extLst xmlns:a="http://schemas.openxmlformats.org/drawingml/2006/main">
              <a:ext uri="{FF2B5EF4-FFF2-40B4-BE49-F238E27FC236}">
                <a16:creationId xmlns:a16="http://schemas.microsoft.com/office/drawing/2014/main" id="{0085D62E-D56D-460F-9F3F-C28B5613899F}"/>
              </a:ext>
            </a:extLst>
          </p:cNvPr>
          <p:cNvSpPr>
            <a:spLocks xmlns:a="http://schemas.openxmlformats.org/drawingml/2006/main" noGrp="1"/>
          </p:cNvSpPr>
          <p:nvPr/>
        </p:nvSpPr>
        <p:spPr>
          <a:xfrm xmlns:a="http://schemas.openxmlformats.org/drawingml/2006/main">
            <a:off x="5349240" y="2532888"/>
            <a:ext cx="182880" cy="182880"/>
          </a:xfrm>
          <a:prstGeom xmlns:a="http://schemas.openxmlformats.org/drawingml/2006/main" prst="rect">
            <a:avLst/>
          </a:prstGeom>
          <a:solidFill xmlns:a="http://schemas.openxmlformats.org/drawingml/2006/main">
            <a:srgbClr val="FFFFFF"/>
          </a:solidFill>
          <a:ln xmlns:a="http://schemas.openxmlformats.org/drawingml/2006/main" w="15875">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D5567578-C460-4F14-8284-38D6893D3EE3}"/>
              </a:ext>
            </a:extLst>
          </p:cNvPr>
          <p:cNvSpPr>
            <a:spLocks xmlns:a="http://schemas.openxmlformats.org/drawingml/2006/main" noGrp="1"/>
          </p:cNvSpPr>
          <p:nvPr/>
        </p:nvSpPr>
        <p:spPr>
          <a:xfrm xmlns:a="http://schemas.openxmlformats.org/drawingml/2006/main">
            <a:off x="5669280" y="2505456"/>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1F2937"/>
                </a:solidFill>
                <a:latin typeface="Nirmala UI"/>
                <a:ea typeface="Nirmala UI"/>
                <a:cs typeface="Nirmala UI"/>
              </a:rPr>
              <a:t>Funding / grant support</a:t>
            </a:r>
            <a:endParaRPr sz="1050"/>
          </a:p>
        </p:txBody>
      </p:sp>
      <p:sp>
        <p:nvSpPr>
          <p:cNvPr id="39" name="Shape 37">
            <a:extLst xmlns:a="http://schemas.openxmlformats.org/drawingml/2006/main">
              <a:ext uri="{FF2B5EF4-FFF2-40B4-BE49-F238E27FC236}">
                <a16:creationId xmlns:a16="http://schemas.microsoft.com/office/drawing/2014/main" id="{CDE7330D-DBCD-4C30-90DE-E3735E6EF2AC}"/>
              </a:ext>
            </a:extLst>
          </p:cNvPr>
          <p:cNvSpPr>
            <a:spLocks xmlns:a="http://schemas.openxmlformats.org/drawingml/2006/main" noGrp="1"/>
          </p:cNvSpPr>
          <p:nvPr/>
        </p:nvSpPr>
        <p:spPr>
          <a:xfrm xmlns:a="http://schemas.openxmlformats.org/drawingml/2006/main">
            <a:off x="5349240" y="2916936"/>
            <a:ext cx="182880" cy="182880"/>
          </a:xfrm>
          <a:prstGeom xmlns:a="http://schemas.openxmlformats.org/drawingml/2006/main" prst="rect">
            <a:avLst/>
          </a:prstGeom>
          <a:solidFill xmlns:a="http://schemas.openxmlformats.org/drawingml/2006/main">
            <a:srgbClr val="FFFFFF"/>
          </a:solidFill>
          <a:ln xmlns:a="http://schemas.openxmlformats.org/drawingml/2006/main" w="15875">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Text 38">
            <a:extLst xmlns:a="http://schemas.openxmlformats.org/drawingml/2006/main">
              <a:ext uri="{FF2B5EF4-FFF2-40B4-BE49-F238E27FC236}">
                <a16:creationId xmlns:a16="http://schemas.microsoft.com/office/drawing/2014/main" id="{F18EFBF6-743F-4A5B-9CF2-07CA81DA8FAA}"/>
              </a:ext>
            </a:extLst>
          </p:cNvPr>
          <p:cNvSpPr>
            <a:spLocks xmlns:a="http://schemas.openxmlformats.org/drawingml/2006/main" noGrp="1"/>
          </p:cNvSpPr>
          <p:nvPr/>
        </p:nvSpPr>
        <p:spPr>
          <a:xfrm xmlns:a="http://schemas.openxmlformats.org/drawingml/2006/main">
            <a:off x="5669280" y="2889504"/>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1F2937"/>
                </a:solidFill>
                <a:latin typeface="Nirmala UI"/>
                <a:ea typeface="Nirmala UI"/>
                <a:cs typeface="Nirmala UI"/>
              </a:rPr>
              <a:t>Incubation &amp; workspace</a:t>
            </a:r>
            <a:endParaRPr sz="1050"/>
          </a:p>
        </p:txBody>
      </p:sp>
      <p:sp>
        <p:nvSpPr>
          <p:cNvPr id="41" name="Shape 39">
            <a:extLst xmlns:a="http://schemas.openxmlformats.org/drawingml/2006/main">
              <a:ext uri="{FF2B5EF4-FFF2-40B4-BE49-F238E27FC236}">
                <a16:creationId xmlns:a16="http://schemas.microsoft.com/office/drawing/2014/main" id="{219C1F7C-1311-4496-A12B-E2A17BFB7382}"/>
              </a:ext>
            </a:extLst>
          </p:cNvPr>
          <p:cNvSpPr>
            <a:spLocks xmlns:a="http://schemas.openxmlformats.org/drawingml/2006/main" noGrp="1"/>
          </p:cNvSpPr>
          <p:nvPr/>
        </p:nvSpPr>
        <p:spPr>
          <a:xfrm xmlns:a="http://schemas.openxmlformats.org/drawingml/2006/main">
            <a:off x="5349240" y="3300984"/>
            <a:ext cx="182880" cy="182880"/>
          </a:xfrm>
          <a:prstGeom xmlns:a="http://schemas.openxmlformats.org/drawingml/2006/main" prst="rect">
            <a:avLst/>
          </a:prstGeom>
          <a:solidFill xmlns:a="http://schemas.openxmlformats.org/drawingml/2006/main">
            <a:srgbClr val="FFFFFF"/>
          </a:solidFill>
          <a:ln xmlns:a="http://schemas.openxmlformats.org/drawingml/2006/main" w="15875">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D671A1BB-C910-49C3-92C1-DA3F5551B95D}"/>
              </a:ext>
            </a:extLst>
          </p:cNvPr>
          <p:cNvSpPr>
            <a:spLocks xmlns:a="http://schemas.openxmlformats.org/drawingml/2006/main" noGrp="1"/>
          </p:cNvSpPr>
          <p:nvPr/>
        </p:nvSpPr>
        <p:spPr>
          <a:xfrm xmlns:a="http://schemas.openxmlformats.org/drawingml/2006/main">
            <a:off x="5669280" y="3273552"/>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1F2937"/>
                </a:solidFill>
                <a:latin typeface="Nirmala UI"/>
                <a:ea typeface="Nirmala UI"/>
                <a:cs typeface="Nirmala UI"/>
              </a:rPr>
              <a:t>Testing, certification or IP support</a:t>
            </a:r>
            <a:endParaRPr sz="1050"/>
          </a:p>
        </p:txBody>
      </p:sp>
      <p:sp>
        <p:nvSpPr>
          <p:cNvPr id="43" name="Text 41">
            <a:extLst xmlns:a="http://schemas.openxmlformats.org/drawingml/2006/main">
              <a:ext uri="{FF2B5EF4-FFF2-40B4-BE49-F238E27FC236}">
                <a16:creationId xmlns:a16="http://schemas.microsoft.com/office/drawing/2014/main" id="{1F424824-69FC-402F-A651-C0B25876CC36}"/>
              </a:ext>
            </a:extLst>
          </p:cNvPr>
          <p:cNvSpPr>
            <a:spLocks xmlns:a="http://schemas.openxmlformats.org/drawingml/2006/main" noGrp="1"/>
          </p:cNvSpPr>
          <p:nvPr/>
        </p:nvSpPr>
        <p:spPr>
          <a:xfrm xmlns:a="http://schemas.openxmlformats.org/drawingml/2006/main">
            <a:off x="5303520" y="3703320"/>
            <a:ext cx="3200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0">
                <a:solidFill>
                  <a:srgbClr val="334155"/>
                </a:solidFill>
              </a:defRPr>
            </a:defPPr>
          </a:lstStyle>
          <a:p xmlns:a="http://schemas.openxmlformats.org/drawingml/2006/main">
            <a:pPr marL="0" indent="0">
              <a:buNone/>
              <a:defRPr i="0">
                <a:solidFill>
                  <a:srgbClr val="334155"/>
                </a:solidFill>
              </a:defRPr>
            </a:pPr>
            <a:r>
              <a:rPr sz="950" i="0">
                <a:solidFill>
                  <a:srgbClr val="334155"/>
                </a:solidFill>
                <a:latin typeface="Nirmala UI"/>
                <a:ea typeface="Nirmala UI"/>
                <a:cs typeface="Nirmala UI"/>
              </a:rPr>
              <a:t>A bounded review task, permitted records and independent field assessment before expansion.</a:t>
            </a:r>
            <a:endParaRPr sz="950"/>
          </a:p>
        </p:txBody>
      </p:sp>
      <p:sp>
        <p:nvSpPr>
          <p:cNvPr id="44" name="Text 42">
            <a:extLst xmlns:a="http://schemas.openxmlformats.org/drawingml/2006/main">
              <a:ext uri="{FF2B5EF4-FFF2-40B4-BE49-F238E27FC236}">
                <a16:creationId xmlns:a16="http://schemas.microsoft.com/office/drawing/2014/main" id="{32FF80DD-3FB4-4D7B-8F74-2A519390B2EC}"/>
              </a:ext>
            </a:extLst>
          </p:cNvPr>
          <p:cNvSpPr>
            <a:spLocks xmlns:a="http://schemas.openxmlformats.org/drawingml/2006/main" noGrp="1"/>
          </p:cNvSpPr>
          <p:nvPr/>
        </p:nvSpPr>
        <p:spPr>
          <a:xfrm xmlns:a="http://schemas.openxmlformats.org/drawingml/2006/main">
            <a:off x="457200" y="4343400"/>
            <a:ext cx="4389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125" i="0"/>
            </a:defPPr>
          </a:lstStyle>
          <a:p xmlns:a="http://schemas.openxmlformats.org/drawingml/2006/main">
            <a:pPr marL="0" indent="0">
              <a:buNone/>
              <a:defRPr sz="1125" i="0"/>
            </a:pPr>
            <a:r>
              <a:rPr sz="1125" b="1" i="0">
                <a:solidFill>
                  <a:srgbClr val="F28C28"/>
                </a:solidFill>
                <a:latin typeface="Nirmala UI"/>
                <a:ea typeface="Nirmala UI"/>
                <a:cs typeface="Nirmala UI"/>
              </a:rPr>
              <a:t>Contact and eligibility details: complete privately</a:t>
            </a:r>
            <a:endParaRPr sz="1100"/>
          </a:p>
        </p:txBody>
      </p:sp>
      <p:sp>
        <p:nvSpPr>
          <p:cNvPr id="45" name="Text 43">
            <a:extLst xmlns:a="http://schemas.openxmlformats.org/drawingml/2006/main">
              <a:ext uri="{FF2B5EF4-FFF2-40B4-BE49-F238E27FC236}">
                <a16:creationId xmlns:a16="http://schemas.microsoft.com/office/drawing/2014/main" id="{AD217F0F-FB20-4473-B03F-0556344A2FA7}"/>
              </a:ext>
            </a:extLst>
          </p:cNvPr>
          <p:cNvSpPr>
            <a:spLocks xmlns:a="http://schemas.openxmlformats.org/drawingml/2006/main" noGrp="1"/>
          </p:cNvSpPr>
          <p:nvPr/>
        </p:nvSpPr>
        <p:spPr>
          <a:xfrm xmlns:a="http://schemas.openxmlformats.org/drawingml/2006/main">
            <a:off x="5486400" y="4846320"/>
            <a:ext cx="3200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00">
                <a:solidFill>
                  <a:srgbClr val="C9D2EC"/>
                </a:solidFill>
                <a:latin typeface="Nirmala UI"/>
                <a:ea typeface="Nirmala UI"/>
                <a:cs typeface="Nirmala UI"/>
              </a:rPr>
              <a:t>Seva Innovation Challenge 2026  |  Slide 6 of 6</a:t>
            </a:r>
            <a:endParaRPr sz="800"/>
          </a:p>
        </p:txBody>
      </p:sp>
    </p:spTree>
    <p:extLst>
      <p:ext uri="{BB962C8B-B14F-4D97-AF65-F5344CB8AC3E}">
        <p14:creationId xmlns:p14="http://schemas.microsoft.com/office/powerpoint/2010/main" val="93369912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2026-10-17T20:10:58.3900000Z</dcterms:created>
  <dcterms:modified xsi:type="dcterms:W3CDTF">2026-10-17T20:10:58.3900000Z</dcterms:modified>
</coreProperties>
</file>