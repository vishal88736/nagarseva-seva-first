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1">
                <a:solidFill>
                  <a:srgbClr val="159D9A"/>
                </a:solidFill>
                <a:latin typeface="Aptos"/>
              </a:defRPr>
            </a:pPr>
            <a:r>
              <a:t>01 / NAGARSEVA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92A43"/>
                </a:solidFill>
                <a:latin typeface="Aptos"/>
              </a:defRPr>
            </a:pPr>
            <a:r>
              <a:t>Plan housing improvements.</a:t>
            </a:r>
          </a:p>
          <a:p>
            <a:pPr>
              <a:spcAft>
                <a:spcPts val="1300"/>
              </a:spcAft>
              <a:defRPr sz="3000" b="1">
                <a:solidFill>
                  <a:srgbClr val="092A43"/>
                </a:solidFill>
                <a:latin typeface="Aptos"/>
              </a:defRPr>
            </a:pPr>
            <a:r>
              <a:t>Verify residents receive the promised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Housing planning + household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850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8503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Accountable action + resident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268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26864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Working software; a field pilot is the 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77F83"/>
                </a:solidFill>
                <a:latin typeface="Aptos"/>
              </a:defRPr>
            </a:pPr>
            <a:r>
              <a:t>NagarSeva · Synthetic planning baseline · Pilot evidence is source-labelled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1">
                <a:solidFill>
                  <a:srgbClr val="159D9A"/>
                </a:solidFill>
                <a:latin typeface="Aptos"/>
              </a:defRPr>
            </a:pPr>
            <a:r>
              <a:t>02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92A43"/>
                </a:solidFill>
                <a:latin typeface="Aptos"/>
              </a:defRPr>
            </a:pPr>
            <a:r>
              <a:t>A home needs affordable living costs and functioning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Compare housing options alongside monthly household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850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8503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Connect a service problem to a responsible department and deadline.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268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26864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Record evidence and keep the resident involved in resolution.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77F83"/>
                </a:solidFill>
                <a:latin typeface="Aptos"/>
              </a:defRPr>
            </a:pPr>
            <a:r>
              <a:t>NagarSeva · Synthetic planning baseline · Pilot evidence is source-labelled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1">
                <a:solidFill>
                  <a:srgbClr val="159D9A"/>
                </a:solidFill>
                <a:latin typeface="Aptos"/>
              </a:defRPr>
            </a:pPr>
            <a:r>
              <a:t>03 / ONE CONNECTED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92A43"/>
                </a:solidFill>
                <a:latin typeface="Aptos"/>
              </a:defRPr>
            </a:pPr>
            <a:r>
              <a:t>A shared record across the whole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Priority map → project brief → financial and household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850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8503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Resident report → officer assignment → dated repair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268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26864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Resident confirmation or dispute → updated service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77F83"/>
                </a:solidFill>
                <a:latin typeface="Aptos"/>
              </a:defRPr>
            </a:pPr>
            <a:r>
              <a:t>NagarSeva · Synthetic planning baseline · Pilot evidence is source-labelled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1">
                <a:solidFill>
                  <a:srgbClr val="159D9A"/>
                </a:solidFill>
                <a:latin typeface="Aptos"/>
              </a:defRPr>
            </a:pPr>
            <a:r>
              <a:t>04 / AFFORDABILITY ON BOTH 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92A43"/>
                </a:solidFill>
                <a:latin typeface="Aptos"/>
              </a:defRPr>
            </a:pPr>
            <a:r>
              <a:t>Developer viability and household burden stay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173C54"/>
                </a:solidFill>
                <a:latin typeface="Aptos"/>
              </a:defRPr>
            </a:pPr>
            <a:r>
              <a:t>Project: area, rehab assumptions, market rates, construction and sensitivity.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850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85032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173C54"/>
                </a:solidFill>
                <a:latin typeface="Aptos"/>
              </a:defRPr>
            </a:pPr>
            <a:r>
              <a:t>Household: rent/EMI, maintenance, utilities, transport and income loss.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268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26864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173C54"/>
                </a:solidFill>
                <a:latin typeface="Aptos"/>
              </a:defRPr>
            </a:pPr>
            <a:r>
              <a:t>Temporary rent and moving costs are separate; all assumptions are editable.</a:t>
            </a:r>
          </a:p>
        </p:txBody>
      </p:sp>
      <p:pic>
        <p:nvPicPr>
          <p:cNvPr id="10" name="Picture 9" descr="affordability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283" y="2423160"/>
            <a:ext cx="5459914" cy="3566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6126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677F83"/>
                </a:solidFill>
                <a:latin typeface="Aptos"/>
              </a:defRPr>
            </a:pPr>
            <a:r>
              <a:t>Captured from the tested app · synthetic demo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77F83"/>
                </a:solidFill>
                <a:latin typeface="Aptos"/>
              </a:defRPr>
            </a:pPr>
            <a:r>
              <a:t>NagarSeva · Synthetic planning baseline · Pilot evidence is source-labelled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1">
                <a:solidFill>
                  <a:srgbClr val="159D9A"/>
                </a:solidFill>
                <a:latin typeface="Aptos"/>
              </a:defRPr>
            </a:pPr>
            <a:r>
              <a:t>05 / WORKING SERVICE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92A43"/>
                </a:solidFill>
                <a:latin typeface="Aptos"/>
              </a:defRPr>
            </a:pPr>
            <a:r>
              <a:t>A repair is submitted for resident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173C54"/>
                </a:solidFill>
                <a:latin typeface="Aptos"/>
              </a:defRPr>
            </a:pPr>
            <a:r>
              <a:t>SQLite records survive restarts; each resident receives a private receipt.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850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85032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173C54"/>
                </a:solidFill>
                <a:latin typeface="Aptos"/>
              </a:defRPr>
            </a:pPr>
            <a:r>
              <a:t>Officers review category/urgency, assign work and record after-repair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268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26864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173C54"/>
                </a:solidFill>
                <a:latin typeface="Aptos"/>
              </a:defRPr>
            </a:pPr>
            <a:r>
              <a:t>Confirmation accepts the reading. Dispute reopens the report and excludes it.</a:t>
            </a:r>
          </a:p>
        </p:txBody>
      </p:sp>
      <p:pic>
        <p:nvPicPr>
          <p:cNvPr id="10" name="Picture 9" descr="assurance-view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605" y="2423160"/>
            <a:ext cx="5135270" cy="3566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6126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677F83"/>
                </a:solidFill>
                <a:latin typeface="Aptos"/>
              </a:defRPr>
            </a:pPr>
            <a:r>
              <a:t>Captured from the tested app · synthetic demo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77F83"/>
                </a:solidFill>
                <a:latin typeface="Aptos"/>
              </a:defRPr>
            </a:pPr>
            <a:r>
              <a:t>NagarSeva · Synthetic planning baseline · Pilot evidence is source-labelled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1">
                <a:solidFill>
                  <a:srgbClr val="159D9A"/>
                </a:solidFill>
                <a:latin typeface="Aptos"/>
              </a:defRPr>
            </a:pPr>
            <a:r>
              <a:t>06 / CREDIBLE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92A43"/>
                </a:solidFill>
                <a:latin typeface="Aptos"/>
              </a:defRPr>
            </a:pPr>
            <a:r>
              <a:t>Show the constraints and an actual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Distinct city/ward coverage, budget and vulnerable-share constraints are checked.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850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8503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Equal-ward budget allocation is independently solved with its caps exposed.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268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26864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Impact is a risk-weighted planning proxy; no realized savings are claimed.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77F83"/>
                </a:solidFill>
                <a:latin typeface="Aptos"/>
              </a:defRPr>
            </a:pPr>
            <a:r>
              <a:t>NagarSeva · Synthetic planning baseline · Pilot evidence is source-labelled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1">
                <a:solidFill>
                  <a:srgbClr val="159D9A"/>
                </a:solidFill>
                <a:latin typeface="Aptos"/>
              </a:defRPr>
            </a:pPr>
            <a:r>
              <a:t>07 / EVIDENCE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92A43"/>
                </a:solidFill>
                <a:latin typeface="Aptos"/>
              </a:defRPr>
            </a:pPr>
            <a:r>
              <a:t>Sources and sample sizes make the demonstration reviewable.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Public context: OpenStreetMap, dated Open-Meteo forecasts and official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850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8503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Planning labels remain synthetic; forecasts do not validate settlement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268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26864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Consented field observations and user trials form separate pilot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77F83"/>
                </a:solidFill>
                <a:latin typeface="Aptos"/>
              </a:defRPr>
            </a:pPr>
            <a:r>
              <a:t>NagarSeva · Synthetic planning baseline · Pilot evidence is source-labelled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1">
                <a:solidFill>
                  <a:srgbClr val="159D9A"/>
                </a:solidFill>
                <a:latin typeface="Aptos"/>
              </a:defRPr>
            </a:pPr>
            <a:r>
              <a:t>08 / PILOT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92A43"/>
                </a:solidFill>
                <a:latin typeface="Aptos"/>
              </a:defRPr>
            </a:pPr>
            <a:r>
              <a:t>One approved project. A resident partner. A municipal reviewer.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Validate task completion, response, resident-confirmed resolution and measured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850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8503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Record source-backed project commitments and evidence limitations.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268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 b="1">
                <a:solidFill>
                  <a:srgbClr val="159D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26864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73C54"/>
                </a:solidFill>
                <a:latin typeface="Aptos"/>
              </a:defRPr>
            </a:pPr>
            <a:r>
              <a:t>PMAY-U 2.0 source: pmaymis.gov.in/pmaymis2_2024/PmayFAQ.aspx · reviewed 2026-10-11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77F83"/>
                </a:solidFill>
                <a:latin typeface="Aptos"/>
              </a:defRPr>
            </a:pPr>
            <a:r>
              <a:t>NagarSeva · Synthetic planning baseline · Pilot evidence is source-labelled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